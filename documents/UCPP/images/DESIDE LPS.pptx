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8" r:id="rId4"/>
  </p:sldMasterIdLst>
  <p:notesMasterIdLst>
    <p:notesMasterId r:id="rId17"/>
  </p:notesMasterIdLst>
  <p:handoutMasterIdLst>
    <p:handoutMasterId r:id="rId18"/>
  </p:handoutMasterIdLst>
  <p:sldIdLst>
    <p:sldId id="289" r:id="rId5"/>
    <p:sldId id="412" r:id="rId6"/>
    <p:sldId id="415" r:id="rId7"/>
    <p:sldId id="414" r:id="rId8"/>
    <p:sldId id="413" r:id="rId9"/>
    <p:sldId id="405" r:id="rId10"/>
    <p:sldId id="406" r:id="rId11"/>
    <p:sldId id="407" r:id="rId12"/>
    <p:sldId id="408" r:id="rId13"/>
    <p:sldId id="409" r:id="rId14"/>
    <p:sldId id="410" r:id="rId15"/>
    <p:sldId id="411" r:id="rId16"/>
  </p:sldIdLst>
  <p:sldSz cx="12192000" cy="6858000"/>
  <p:notesSz cx="6950075"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38" userDrawn="1">
          <p15:clr>
            <a:srgbClr val="A4A3A4"/>
          </p15:clr>
        </p15:guide>
        <p15:guide id="2" pos="7151" userDrawn="1">
          <p15:clr>
            <a:srgbClr val="A4A3A4"/>
          </p15:clr>
        </p15:guide>
      </p15:sldGuideLst>
    </p:ext>
    <p:ext uri="{2D200454-40CA-4A62-9FC3-DE9A4176ACB9}">
      <p15:notesGuideLst xmlns:p15="http://schemas.microsoft.com/office/powerpoint/2012/main">
        <p15:guide id="1" orient="horz" pos="2909" userDrawn="1">
          <p15:clr>
            <a:srgbClr val="A4A3A4"/>
          </p15:clr>
        </p15:guide>
        <p15:guide id="2" pos="218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1525"/>
    <a:srgbClr val="E93B85"/>
    <a:srgbClr val="00A5E4"/>
    <a:srgbClr val="00ACE5"/>
    <a:srgbClr val="00485D"/>
    <a:srgbClr val="556471"/>
    <a:srgbClr val="275791"/>
    <a:srgbClr val="1F497D"/>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9" autoAdjust="0"/>
    <p:restoredTop sz="89758" autoAdjust="0"/>
  </p:normalViewPr>
  <p:slideViewPr>
    <p:cSldViewPr snapToObjects="1">
      <p:cViewPr varScale="1">
        <p:scale>
          <a:sx n="101" d="100"/>
          <a:sy n="101" d="100"/>
        </p:scale>
        <p:origin x="216" y="64"/>
      </p:cViewPr>
      <p:guideLst>
        <p:guide orient="horz" pos="3838"/>
        <p:guide pos="7151"/>
      </p:guideLst>
    </p:cSldViewPr>
  </p:slideViewPr>
  <p:outlineViewPr>
    <p:cViewPr>
      <p:scale>
        <a:sx n="33" d="100"/>
        <a:sy n="33" d="100"/>
      </p:scale>
      <p:origin x="0" y="0"/>
    </p:cViewPr>
  </p:outlineViewPr>
  <p:notesTextViewPr>
    <p:cViewPr>
      <p:scale>
        <a:sx n="100" d="100"/>
        <a:sy n="100" d="100"/>
      </p:scale>
      <p:origin x="0" y="0"/>
    </p:cViewPr>
  </p:notesTextViewPr>
  <p:notesViewPr>
    <p:cSldViewPr snapToObjects="1">
      <p:cViewPr>
        <p:scale>
          <a:sx n="90" d="100"/>
          <a:sy n="90" d="100"/>
        </p:scale>
        <p:origin x="-1768" y="384"/>
      </p:cViewPr>
      <p:guideLst>
        <p:guide orient="horz" pos="2909"/>
        <p:guide pos="218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Arthurs" userId="1bb84779-ddfa-48c2-a4e5-e400008e8d5d" providerId="ADAL" clId="{CB505312-B0CE-4380-9D92-B768B9A6FDCA}"/>
    <pc:docChg chg="custSel addSld delSld modSld">
      <pc:chgData name="David Arthurs" userId="1bb84779-ddfa-48c2-a4e5-e400008e8d5d" providerId="ADAL" clId="{CB505312-B0CE-4380-9D92-B768B9A6FDCA}" dt="2025-06-27T07:31:34.122" v="156" actId="47"/>
      <pc:docMkLst>
        <pc:docMk/>
      </pc:docMkLst>
      <pc:sldChg chg="modSp del mod">
        <pc:chgData name="David Arthurs" userId="1bb84779-ddfa-48c2-a4e5-e400008e8d5d" providerId="ADAL" clId="{CB505312-B0CE-4380-9D92-B768B9A6FDCA}" dt="2025-06-25T06:38:13.373" v="2" actId="47"/>
        <pc:sldMkLst>
          <pc:docMk/>
          <pc:sldMk cId="3632379050" sldId="403"/>
        </pc:sldMkLst>
      </pc:sldChg>
      <pc:sldChg chg="del">
        <pc:chgData name="David Arthurs" userId="1bb84779-ddfa-48c2-a4e5-e400008e8d5d" providerId="ADAL" clId="{CB505312-B0CE-4380-9D92-B768B9A6FDCA}" dt="2025-06-25T06:37:35.478" v="1" actId="47"/>
        <pc:sldMkLst>
          <pc:docMk/>
          <pc:sldMk cId="250571192" sldId="404"/>
        </pc:sldMkLst>
      </pc:sldChg>
      <pc:sldChg chg="addSp delSp modSp mod">
        <pc:chgData name="David Arthurs" userId="1bb84779-ddfa-48c2-a4e5-e400008e8d5d" providerId="ADAL" clId="{CB505312-B0CE-4380-9D92-B768B9A6FDCA}" dt="2025-06-25T06:40:44.710" v="34" actId="1076"/>
        <pc:sldMkLst>
          <pc:docMk/>
          <pc:sldMk cId="2537381376" sldId="405"/>
        </pc:sldMkLst>
        <pc:spChg chg="add mod">
          <ac:chgData name="David Arthurs" userId="1bb84779-ddfa-48c2-a4e5-e400008e8d5d" providerId="ADAL" clId="{CB505312-B0CE-4380-9D92-B768B9A6FDCA}" dt="2025-06-25T06:40:44.710" v="34" actId="1076"/>
          <ac:spMkLst>
            <pc:docMk/>
            <pc:sldMk cId="2537381376" sldId="405"/>
            <ac:spMk id="4" creationId="{CA9F64FE-6A5E-4200-4624-9B0191A9664A}"/>
          </ac:spMkLst>
        </pc:spChg>
        <pc:spChg chg="mod">
          <ac:chgData name="David Arthurs" userId="1bb84779-ddfa-48c2-a4e5-e400008e8d5d" providerId="ADAL" clId="{CB505312-B0CE-4380-9D92-B768B9A6FDCA}" dt="2025-06-25T06:39:53.946" v="6" actId="6549"/>
          <ac:spMkLst>
            <pc:docMk/>
            <pc:sldMk cId="2537381376" sldId="405"/>
            <ac:spMk id="5" creationId="{D3F1210B-EFC7-0BF6-3783-929FD55CFDBC}"/>
          </ac:spMkLst>
        </pc:spChg>
      </pc:sldChg>
      <pc:sldChg chg="addSp delSp modSp mod">
        <pc:chgData name="David Arthurs" userId="1bb84779-ddfa-48c2-a4e5-e400008e8d5d" providerId="ADAL" clId="{CB505312-B0CE-4380-9D92-B768B9A6FDCA}" dt="2025-06-25T06:41:31.174" v="38" actId="20577"/>
        <pc:sldMkLst>
          <pc:docMk/>
          <pc:sldMk cId="171251271" sldId="406"/>
        </pc:sldMkLst>
        <pc:spChg chg="mod">
          <ac:chgData name="David Arthurs" userId="1bb84779-ddfa-48c2-a4e5-e400008e8d5d" providerId="ADAL" clId="{CB505312-B0CE-4380-9D92-B768B9A6FDCA}" dt="2025-06-25T06:41:31.174" v="38" actId="20577"/>
          <ac:spMkLst>
            <pc:docMk/>
            <pc:sldMk cId="171251271" sldId="406"/>
            <ac:spMk id="5" creationId="{0CD43EB1-2A6C-8C7A-EBDF-F578C7ED966E}"/>
          </ac:spMkLst>
        </pc:spChg>
      </pc:sldChg>
      <pc:sldChg chg="addSp delSp modSp mod modShow">
        <pc:chgData name="David Arthurs" userId="1bb84779-ddfa-48c2-a4e5-e400008e8d5d" providerId="ADAL" clId="{CB505312-B0CE-4380-9D92-B768B9A6FDCA}" dt="2025-06-25T06:43:20.431" v="65" actId="729"/>
        <pc:sldMkLst>
          <pc:docMk/>
          <pc:sldMk cId="1634321728" sldId="407"/>
        </pc:sldMkLst>
        <pc:spChg chg="mod">
          <ac:chgData name="David Arthurs" userId="1bb84779-ddfa-48c2-a4e5-e400008e8d5d" providerId="ADAL" clId="{CB505312-B0CE-4380-9D92-B768B9A6FDCA}" dt="2025-06-25T06:41:38.303" v="40" actId="20577"/>
          <ac:spMkLst>
            <pc:docMk/>
            <pc:sldMk cId="1634321728" sldId="407"/>
            <ac:spMk id="5" creationId="{B0757FF9-EBCB-12E5-0E6F-C326C46ACE6C}"/>
          </ac:spMkLst>
        </pc:spChg>
      </pc:sldChg>
      <pc:sldChg chg="addSp delSp modSp mod">
        <pc:chgData name="David Arthurs" userId="1bb84779-ddfa-48c2-a4e5-e400008e8d5d" providerId="ADAL" clId="{CB505312-B0CE-4380-9D92-B768B9A6FDCA}" dt="2025-06-25T06:41:56.013" v="46" actId="478"/>
        <pc:sldMkLst>
          <pc:docMk/>
          <pc:sldMk cId="2326632978" sldId="408"/>
        </pc:sldMkLst>
        <pc:spChg chg="mod">
          <ac:chgData name="David Arthurs" userId="1bb84779-ddfa-48c2-a4e5-e400008e8d5d" providerId="ADAL" clId="{CB505312-B0CE-4380-9D92-B768B9A6FDCA}" dt="2025-06-25T06:41:50.956" v="44" actId="20577"/>
          <ac:spMkLst>
            <pc:docMk/>
            <pc:sldMk cId="2326632978" sldId="408"/>
            <ac:spMk id="5" creationId="{5E482D96-4A1D-A945-EF6F-51DE425A8336}"/>
          </ac:spMkLst>
        </pc:spChg>
      </pc:sldChg>
      <pc:sldChg chg="addSp delSp modSp mod">
        <pc:chgData name="David Arthurs" userId="1bb84779-ddfa-48c2-a4e5-e400008e8d5d" providerId="ADAL" clId="{CB505312-B0CE-4380-9D92-B768B9A6FDCA}" dt="2025-06-25T06:42:09.889" v="50" actId="478"/>
        <pc:sldMkLst>
          <pc:docMk/>
          <pc:sldMk cId="3073608188" sldId="409"/>
        </pc:sldMkLst>
        <pc:spChg chg="mod">
          <ac:chgData name="David Arthurs" userId="1bb84779-ddfa-48c2-a4e5-e400008e8d5d" providerId="ADAL" clId="{CB505312-B0CE-4380-9D92-B768B9A6FDCA}" dt="2025-06-25T06:42:02.524" v="48" actId="20577"/>
          <ac:spMkLst>
            <pc:docMk/>
            <pc:sldMk cId="3073608188" sldId="409"/>
            <ac:spMk id="5" creationId="{2B8B7248-C16D-300A-B058-66A99F7543C0}"/>
          </ac:spMkLst>
        </pc:spChg>
      </pc:sldChg>
      <pc:sldChg chg="addSp delSp modSp mod">
        <pc:chgData name="David Arthurs" userId="1bb84779-ddfa-48c2-a4e5-e400008e8d5d" providerId="ADAL" clId="{CB505312-B0CE-4380-9D92-B768B9A6FDCA}" dt="2025-06-25T06:42:46.709" v="62" actId="20577"/>
        <pc:sldMkLst>
          <pc:docMk/>
          <pc:sldMk cId="1649432927" sldId="410"/>
        </pc:sldMkLst>
        <pc:spChg chg="mod">
          <ac:chgData name="David Arthurs" userId="1bb84779-ddfa-48c2-a4e5-e400008e8d5d" providerId="ADAL" clId="{CB505312-B0CE-4380-9D92-B768B9A6FDCA}" dt="2025-06-25T06:42:46.709" v="62" actId="20577"/>
          <ac:spMkLst>
            <pc:docMk/>
            <pc:sldMk cId="1649432927" sldId="410"/>
            <ac:spMk id="5" creationId="{D2C7A4C1-C9C4-7D3E-FE3E-FAF26352A4A8}"/>
          </ac:spMkLst>
        </pc:spChg>
      </pc:sldChg>
      <pc:sldChg chg="addSp delSp modSp mod">
        <pc:chgData name="David Arthurs" userId="1bb84779-ddfa-48c2-a4e5-e400008e8d5d" providerId="ADAL" clId="{CB505312-B0CE-4380-9D92-B768B9A6FDCA}" dt="2025-06-25T06:42:59.956" v="64" actId="478"/>
        <pc:sldMkLst>
          <pc:docMk/>
          <pc:sldMk cId="1636747555" sldId="411"/>
        </pc:sldMkLst>
        <pc:spChg chg="mod">
          <ac:chgData name="David Arthurs" userId="1bb84779-ddfa-48c2-a4e5-e400008e8d5d" providerId="ADAL" clId="{CB505312-B0CE-4380-9D92-B768B9A6FDCA}" dt="2025-06-25T06:42:37.382" v="59" actId="20577"/>
          <ac:spMkLst>
            <pc:docMk/>
            <pc:sldMk cId="1636747555" sldId="411"/>
            <ac:spMk id="5" creationId="{1D3E7D9B-4FE8-AB50-652F-B341DA2D6071}"/>
          </ac:spMkLst>
        </pc:spChg>
      </pc:sldChg>
      <pc:sldChg chg="addSp delSp modSp new del mod modClrScheme chgLayout">
        <pc:chgData name="David Arthurs" userId="1bb84779-ddfa-48c2-a4e5-e400008e8d5d" providerId="ADAL" clId="{CB505312-B0CE-4380-9D92-B768B9A6FDCA}" dt="2025-06-27T07:31:34.122" v="156" actId="47"/>
        <pc:sldMkLst>
          <pc:docMk/>
          <pc:sldMk cId="3504037717" sldId="416"/>
        </pc:sldMkLst>
      </pc:sldChg>
      <pc:sldChg chg="modSp new del mod">
        <pc:chgData name="David Arthurs" userId="1bb84779-ddfa-48c2-a4e5-e400008e8d5d" providerId="ADAL" clId="{CB505312-B0CE-4380-9D92-B768B9A6FDCA}" dt="2025-06-27T07:31:34.122" v="156" actId="47"/>
        <pc:sldMkLst>
          <pc:docMk/>
          <pc:sldMk cId="1793986330" sldId="417"/>
        </pc:sldMkLst>
      </pc:sldChg>
      <pc:sldChg chg="modSp new del mod">
        <pc:chgData name="David Arthurs" userId="1bb84779-ddfa-48c2-a4e5-e400008e8d5d" providerId="ADAL" clId="{CB505312-B0CE-4380-9D92-B768B9A6FDCA}" dt="2025-06-27T07:31:34.122" v="156" actId="47"/>
        <pc:sldMkLst>
          <pc:docMk/>
          <pc:sldMk cId="1866894091" sldId="41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3408"/>
          </a:xfrm>
          <a:prstGeom prst="rect">
            <a:avLst/>
          </a:prstGeom>
        </p:spPr>
        <p:txBody>
          <a:bodyPr vert="horz" lIns="92492" tIns="46246" rIns="92492" bIns="46246" rtlCol="0"/>
          <a:lstStyle>
            <a:lvl1pPr algn="l">
              <a:defRPr sz="1200"/>
            </a:lvl1pPr>
          </a:lstStyle>
          <a:p>
            <a:endParaRPr lang="en-CA"/>
          </a:p>
        </p:txBody>
      </p:sp>
      <p:sp>
        <p:nvSpPr>
          <p:cNvPr id="3" name="Date Placeholder 2"/>
          <p:cNvSpPr>
            <a:spLocks noGrp="1"/>
          </p:cNvSpPr>
          <p:nvPr>
            <p:ph type="dt" sz="quarter" idx="1"/>
          </p:nvPr>
        </p:nvSpPr>
        <p:spPr>
          <a:xfrm>
            <a:off x="3936768" y="0"/>
            <a:ext cx="3011699" cy="463408"/>
          </a:xfrm>
          <a:prstGeom prst="rect">
            <a:avLst/>
          </a:prstGeom>
        </p:spPr>
        <p:txBody>
          <a:bodyPr vert="horz" lIns="92492" tIns="46246" rIns="92492" bIns="46246" rtlCol="0"/>
          <a:lstStyle>
            <a:lvl1pPr algn="r">
              <a:defRPr sz="1200"/>
            </a:lvl1pPr>
          </a:lstStyle>
          <a:p>
            <a:fld id="{77F2C507-0B40-420B-8177-C92047F7FB00}" type="datetimeFigureOut">
              <a:rPr lang="en-CA" smtClean="0"/>
              <a:t>2025-06-27</a:t>
            </a:fld>
            <a:endParaRPr lang="en-CA"/>
          </a:p>
        </p:txBody>
      </p:sp>
      <p:sp>
        <p:nvSpPr>
          <p:cNvPr id="4" name="Footer Placeholder 3"/>
          <p:cNvSpPr>
            <a:spLocks noGrp="1"/>
          </p:cNvSpPr>
          <p:nvPr>
            <p:ph type="ftr" sz="quarter" idx="2"/>
          </p:nvPr>
        </p:nvSpPr>
        <p:spPr>
          <a:xfrm>
            <a:off x="0" y="8772669"/>
            <a:ext cx="3011699" cy="463407"/>
          </a:xfrm>
          <a:prstGeom prst="rect">
            <a:avLst/>
          </a:prstGeom>
        </p:spPr>
        <p:txBody>
          <a:bodyPr vert="horz" lIns="92492" tIns="46246" rIns="92492" bIns="46246" rtlCol="0" anchor="b"/>
          <a:lstStyle>
            <a:lvl1pPr algn="l">
              <a:defRPr sz="1200"/>
            </a:lvl1pPr>
          </a:lstStyle>
          <a:p>
            <a:endParaRPr lang="en-CA"/>
          </a:p>
        </p:txBody>
      </p:sp>
      <p:sp>
        <p:nvSpPr>
          <p:cNvPr id="5" name="Slide Number Placeholder 4"/>
          <p:cNvSpPr>
            <a:spLocks noGrp="1"/>
          </p:cNvSpPr>
          <p:nvPr>
            <p:ph type="sldNum" sz="quarter" idx="3"/>
          </p:nvPr>
        </p:nvSpPr>
        <p:spPr>
          <a:xfrm>
            <a:off x="3936768" y="8772669"/>
            <a:ext cx="3011699" cy="463407"/>
          </a:xfrm>
          <a:prstGeom prst="rect">
            <a:avLst/>
          </a:prstGeom>
        </p:spPr>
        <p:txBody>
          <a:bodyPr vert="horz" lIns="92492" tIns="46246" rIns="92492" bIns="46246" rtlCol="0" anchor="b"/>
          <a:lstStyle>
            <a:lvl1pPr algn="r">
              <a:defRPr sz="1200"/>
            </a:lvl1pPr>
          </a:lstStyle>
          <a:p>
            <a:fld id="{160FFAF9-4610-4135-B951-8DED41FC10D0}" type="slidenum">
              <a:rPr lang="en-CA" smtClean="0"/>
              <a:t>‹#›</a:t>
            </a:fld>
            <a:endParaRPr lang="en-CA"/>
          </a:p>
        </p:txBody>
      </p:sp>
    </p:spTree>
    <p:extLst>
      <p:ext uri="{BB962C8B-B14F-4D97-AF65-F5344CB8AC3E}">
        <p14:creationId xmlns:p14="http://schemas.microsoft.com/office/powerpoint/2010/main" val="38489205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3408"/>
          </a:xfrm>
          <a:prstGeom prst="rect">
            <a:avLst/>
          </a:prstGeom>
        </p:spPr>
        <p:txBody>
          <a:bodyPr vert="horz" lIns="92492" tIns="46246" rIns="92492" bIns="46246" rtlCol="0"/>
          <a:lstStyle>
            <a:lvl1pPr algn="l">
              <a:defRPr sz="1200"/>
            </a:lvl1pPr>
          </a:lstStyle>
          <a:p>
            <a:endParaRPr lang="en-CA"/>
          </a:p>
        </p:txBody>
      </p:sp>
      <p:sp>
        <p:nvSpPr>
          <p:cNvPr id="3" name="Date Placeholder 2"/>
          <p:cNvSpPr>
            <a:spLocks noGrp="1"/>
          </p:cNvSpPr>
          <p:nvPr>
            <p:ph type="dt" idx="1"/>
          </p:nvPr>
        </p:nvSpPr>
        <p:spPr>
          <a:xfrm>
            <a:off x="3936768" y="0"/>
            <a:ext cx="3011699" cy="463408"/>
          </a:xfrm>
          <a:prstGeom prst="rect">
            <a:avLst/>
          </a:prstGeom>
        </p:spPr>
        <p:txBody>
          <a:bodyPr vert="horz" lIns="92492" tIns="46246" rIns="92492" bIns="46246" rtlCol="0"/>
          <a:lstStyle>
            <a:lvl1pPr algn="r">
              <a:defRPr sz="1200"/>
            </a:lvl1pPr>
          </a:lstStyle>
          <a:p>
            <a:fld id="{8EC55574-D2FA-4A27-AA6F-64620361C34C}" type="datetimeFigureOut">
              <a:rPr lang="en-CA" smtClean="0"/>
              <a:t>2025-06-27</a:t>
            </a:fld>
            <a:endParaRPr lang="en-CA"/>
          </a:p>
        </p:txBody>
      </p:sp>
      <p:sp>
        <p:nvSpPr>
          <p:cNvPr id="4" name="Slide Image Placeholder 3"/>
          <p:cNvSpPr>
            <a:spLocks noGrp="1" noRot="1" noChangeAspect="1"/>
          </p:cNvSpPr>
          <p:nvPr>
            <p:ph type="sldImg" idx="2"/>
          </p:nvPr>
        </p:nvSpPr>
        <p:spPr>
          <a:xfrm>
            <a:off x="703263" y="1154113"/>
            <a:ext cx="5543550" cy="3117850"/>
          </a:xfrm>
          <a:prstGeom prst="rect">
            <a:avLst/>
          </a:prstGeom>
          <a:noFill/>
          <a:ln w="12700">
            <a:solidFill>
              <a:prstClr val="black"/>
            </a:solidFill>
          </a:ln>
        </p:spPr>
        <p:txBody>
          <a:bodyPr vert="horz" lIns="92492" tIns="46246" rIns="92492" bIns="46246" rtlCol="0" anchor="ctr"/>
          <a:lstStyle/>
          <a:p>
            <a:endParaRPr lang="en-CA"/>
          </a:p>
        </p:txBody>
      </p:sp>
      <p:sp>
        <p:nvSpPr>
          <p:cNvPr id="5" name="Notes Placeholder 4"/>
          <p:cNvSpPr>
            <a:spLocks noGrp="1"/>
          </p:cNvSpPr>
          <p:nvPr>
            <p:ph type="body" sz="quarter" idx="3"/>
          </p:nvPr>
        </p:nvSpPr>
        <p:spPr>
          <a:xfrm>
            <a:off x="695008" y="4444861"/>
            <a:ext cx="5560060" cy="3636705"/>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772669"/>
            <a:ext cx="3011699" cy="463407"/>
          </a:xfrm>
          <a:prstGeom prst="rect">
            <a:avLst/>
          </a:prstGeom>
        </p:spPr>
        <p:txBody>
          <a:bodyPr vert="horz" lIns="92492" tIns="46246" rIns="92492" bIns="46246" rtlCol="0" anchor="b"/>
          <a:lstStyle>
            <a:lvl1pPr algn="l">
              <a:defRPr sz="1200"/>
            </a:lvl1pPr>
          </a:lstStyle>
          <a:p>
            <a:endParaRPr lang="en-CA"/>
          </a:p>
        </p:txBody>
      </p:sp>
      <p:sp>
        <p:nvSpPr>
          <p:cNvPr id="7" name="Slide Number Placeholder 6"/>
          <p:cNvSpPr>
            <a:spLocks noGrp="1"/>
          </p:cNvSpPr>
          <p:nvPr>
            <p:ph type="sldNum" sz="quarter" idx="5"/>
          </p:nvPr>
        </p:nvSpPr>
        <p:spPr>
          <a:xfrm>
            <a:off x="3936768" y="8772669"/>
            <a:ext cx="3011699" cy="463407"/>
          </a:xfrm>
          <a:prstGeom prst="rect">
            <a:avLst/>
          </a:prstGeom>
        </p:spPr>
        <p:txBody>
          <a:bodyPr vert="horz" lIns="92492" tIns="46246" rIns="92492" bIns="46246" rtlCol="0" anchor="b"/>
          <a:lstStyle>
            <a:lvl1pPr algn="r">
              <a:defRPr sz="1200"/>
            </a:lvl1pPr>
          </a:lstStyle>
          <a:p>
            <a:fld id="{0407C0CB-E22F-47E3-95A9-EBF914C51A98}" type="slidenum">
              <a:rPr lang="en-CA" smtClean="0"/>
              <a:t>‹#›</a:t>
            </a:fld>
            <a:endParaRPr lang="en-CA"/>
          </a:p>
        </p:txBody>
      </p:sp>
    </p:spTree>
    <p:extLst>
      <p:ext uri="{BB962C8B-B14F-4D97-AF65-F5344CB8AC3E}">
        <p14:creationId xmlns:p14="http://schemas.microsoft.com/office/powerpoint/2010/main" val="3979413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407C0CB-E22F-47E3-95A9-EBF914C51A98}" type="slidenum">
              <a:rPr lang="en-CA" smtClean="0"/>
              <a:t>1</a:t>
            </a:fld>
            <a:endParaRPr lang="en-CA"/>
          </a:p>
        </p:txBody>
      </p:sp>
    </p:spTree>
    <p:extLst>
      <p:ext uri="{BB962C8B-B14F-4D97-AF65-F5344CB8AC3E}">
        <p14:creationId xmlns:p14="http://schemas.microsoft.com/office/powerpoint/2010/main" val="13957430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6.png"/><Relationship Id="rId12" Type="http://schemas.microsoft.com/office/2007/relationships/hdphoto" Target="../media/hdphoto3.wdp"/><Relationship Id="rId2" Type="http://schemas.openxmlformats.org/officeDocument/2006/relationships/image" Target="../media/image2.jpeg"/><Relationship Id="rId16"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5.emf"/><Relationship Id="rId11" Type="http://schemas.openxmlformats.org/officeDocument/2006/relationships/image" Target="../media/image9.png"/><Relationship Id="rId5" Type="http://schemas.microsoft.com/office/2007/relationships/hdphoto" Target="../media/hdphoto1.wdp"/><Relationship Id="rId15" Type="http://schemas.microsoft.com/office/2007/relationships/hdphoto" Target="../media/hdphoto4.wdp"/><Relationship Id="rId10" Type="http://schemas.openxmlformats.org/officeDocument/2006/relationships/image" Target="../media/image8.png"/><Relationship Id="rId4" Type="http://schemas.openxmlformats.org/officeDocument/2006/relationships/image" Target="../media/image4.png"/><Relationship Id="rId9" Type="http://schemas.openxmlformats.org/officeDocument/2006/relationships/image" Target="../media/image7.png"/><Relationship Id="rId1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6.png"/><Relationship Id="rId12" Type="http://schemas.microsoft.com/office/2007/relationships/hdphoto" Target="../media/hdphoto3.wdp"/><Relationship Id="rId2" Type="http://schemas.openxmlformats.org/officeDocument/2006/relationships/image" Target="../media/image2.jpeg"/><Relationship Id="rId16"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5.emf"/><Relationship Id="rId11" Type="http://schemas.openxmlformats.org/officeDocument/2006/relationships/image" Target="../media/image9.png"/><Relationship Id="rId5" Type="http://schemas.microsoft.com/office/2007/relationships/hdphoto" Target="../media/hdphoto1.wdp"/><Relationship Id="rId15" Type="http://schemas.microsoft.com/office/2007/relationships/hdphoto" Target="../media/hdphoto4.wdp"/><Relationship Id="rId10" Type="http://schemas.openxmlformats.org/officeDocument/2006/relationships/image" Target="../media/image8.png"/><Relationship Id="rId4" Type="http://schemas.openxmlformats.org/officeDocument/2006/relationships/image" Target="../media/image4.png"/><Relationship Id="rId9" Type="http://schemas.openxmlformats.org/officeDocument/2006/relationships/image" Target="../media/image7.png"/><Relationship Id="rId14"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6.png"/><Relationship Id="rId12" Type="http://schemas.microsoft.com/office/2007/relationships/hdphoto" Target="../media/hdphoto3.wdp"/><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5.emf"/><Relationship Id="rId11" Type="http://schemas.openxmlformats.org/officeDocument/2006/relationships/image" Target="../media/image9.png"/><Relationship Id="rId5" Type="http://schemas.microsoft.com/office/2007/relationships/hdphoto" Target="../media/hdphoto1.wdp"/><Relationship Id="rId15" Type="http://schemas.microsoft.com/office/2007/relationships/hdphoto" Target="../media/hdphoto4.wdp"/><Relationship Id="rId10" Type="http://schemas.openxmlformats.org/officeDocument/2006/relationships/image" Target="../media/image8.png"/><Relationship Id="rId4" Type="http://schemas.openxmlformats.org/officeDocument/2006/relationships/image" Target="../media/image4.png"/><Relationship Id="rId9" Type="http://schemas.openxmlformats.org/officeDocument/2006/relationships/image" Target="../media/image7.png"/><Relationship Id="rId1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defRPr>
                <a:solidFill>
                  <a:schemeClr val="accent1">
                    <a:lumMod val="50000"/>
                  </a:schemeClr>
                </a:solidFill>
              </a:defRPr>
            </a:lvl1p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D95D6221-4853-2D40-B591-ECF55C3748E1}" type="datetimeFigureOut">
              <a:rPr lang="en-US" smtClean="0"/>
              <a:t>6/27/2025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63D51D-53A8-2449-9FDA-CB2443F42A29}" type="slidenum">
              <a:rPr lang="en-US" smtClean="0"/>
              <a:t>‹#›</a:t>
            </a:fld>
            <a:endParaRPr lang="en-US"/>
          </a:p>
        </p:txBody>
      </p:sp>
    </p:spTree>
    <p:extLst>
      <p:ext uri="{BB962C8B-B14F-4D97-AF65-F5344CB8AC3E}">
        <p14:creationId xmlns:p14="http://schemas.microsoft.com/office/powerpoint/2010/main" val="6924599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7660"/>
            <a:ext cx="10972800" cy="1143000"/>
          </a:xfrm>
        </p:spPr>
        <p:txBody>
          <a:bodyPr/>
          <a:lstStyle>
            <a:lvl1pPr>
              <a:defRPr>
                <a:solidFill>
                  <a:schemeClr val="bg1"/>
                </a:solidFill>
              </a:defRPr>
            </a:lvl1pPr>
          </a:lstStyle>
          <a:p>
            <a:r>
              <a:rPr lang="en-GB" dirty="0"/>
              <a:t>Click to edit Master title style</a:t>
            </a:r>
            <a:endParaRPr lang="en-US" dirty="0"/>
          </a:p>
        </p:txBody>
      </p:sp>
      <p:sp>
        <p:nvSpPr>
          <p:cNvPr id="3" name="Content Placeholder 2"/>
          <p:cNvSpPr>
            <a:spLocks noGrp="1"/>
          </p:cNvSpPr>
          <p:nvPr>
            <p:ph idx="1"/>
          </p:nvPr>
        </p:nvSpPr>
        <p:spPr>
          <a:xfrm>
            <a:off x="609600" y="1213659"/>
            <a:ext cx="10972800" cy="4912505"/>
          </a:xfrm>
        </p:spPr>
        <p:txBody>
          <a:bodyPr/>
          <a:lstStyle>
            <a:lvl1pPr>
              <a:defRPr sz="3000">
                <a:solidFill>
                  <a:schemeClr val="accent1">
                    <a:lumMod val="75000"/>
                  </a:schemeClr>
                </a:solidFill>
              </a:defRPr>
            </a:lvl1pPr>
            <a:lvl2pPr>
              <a:defRPr sz="2400">
                <a:solidFill>
                  <a:schemeClr val="accent1">
                    <a:lumMod val="75000"/>
                  </a:schemeClr>
                </a:solidFill>
              </a:defRPr>
            </a:lvl2pPr>
            <a:lvl3pPr>
              <a:defRPr sz="2000">
                <a:solidFill>
                  <a:schemeClr val="accent1">
                    <a:lumMod val="75000"/>
                  </a:schemeClr>
                </a:solidFill>
              </a:defRPr>
            </a:lvl3pPr>
            <a:lvl4pPr>
              <a:defRPr>
                <a:solidFill>
                  <a:schemeClr val="accent1">
                    <a:lumMod val="75000"/>
                  </a:schemeClr>
                </a:solidFill>
              </a:defRPr>
            </a:lvl4pPr>
            <a:lvl5pPr>
              <a:defRPr>
                <a:solidFill>
                  <a:schemeClr val="accent1">
                    <a:lumMod val="75000"/>
                  </a:schemeClr>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40407" y="6349509"/>
            <a:ext cx="2228201" cy="365760"/>
          </a:xfrm>
          <a:prstGeom prst="rect">
            <a:avLst/>
          </a:prstGeom>
        </p:spPr>
      </p:pic>
      <p:pic>
        <p:nvPicPr>
          <p:cNvPr id="11" name="Picture 10">
            <a:extLst>
              <a:ext uri="{FF2B5EF4-FFF2-40B4-BE49-F238E27FC236}">
                <a16:creationId xmlns:a16="http://schemas.microsoft.com/office/drawing/2014/main" id="{B7B0B2AB-BD3E-441F-3FB9-24EE077E5D61}"/>
              </a:ext>
            </a:extLst>
          </p:cNvPr>
          <p:cNvPicPr>
            <a:picLocks noChangeAspect="1"/>
          </p:cNvPicPr>
          <p:nvPr userDrawn="1"/>
        </p:nvPicPr>
        <p:blipFill>
          <a:blip r:embed="rId4" cstate="screen">
            <a:lum bright="70000" contrast="-70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a:ext>
            </a:extLst>
          </a:blip>
          <a:srcRect/>
          <a:stretch>
            <a:fillRect/>
          </a:stretch>
        </p:blipFill>
        <p:spPr bwMode="auto">
          <a:xfrm>
            <a:off x="7851885" y="6395229"/>
            <a:ext cx="1142238" cy="274320"/>
          </a:xfrm>
          <a:prstGeom prst="rect">
            <a:avLst/>
          </a:prstGeom>
          <a:noFill/>
        </p:spPr>
      </p:pic>
      <p:pic>
        <p:nvPicPr>
          <p:cNvPr id="15" name="Picture 14">
            <a:extLst>
              <a:ext uri="{FF2B5EF4-FFF2-40B4-BE49-F238E27FC236}">
                <a16:creationId xmlns:a16="http://schemas.microsoft.com/office/drawing/2014/main" id="{484B26EE-7B41-8793-BCEA-914E501F3B63}"/>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596820" y="6349509"/>
            <a:ext cx="857398" cy="365760"/>
          </a:xfrm>
          <a:prstGeom prst="rect">
            <a:avLst/>
          </a:prstGeom>
        </p:spPr>
      </p:pic>
      <p:pic>
        <p:nvPicPr>
          <p:cNvPr id="9" name="Picture 6" descr="Support the Finnish Meteorological Institute | CMEMS">
            <a:extLst>
              <a:ext uri="{FF2B5EF4-FFF2-40B4-BE49-F238E27FC236}">
                <a16:creationId xmlns:a16="http://schemas.microsoft.com/office/drawing/2014/main" id="{1E7C9A86-9348-6870-3DA5-E8133D42D35B}"/>
              </a:ext>
            </a:extLst>
          </p:cNvPr>
          <p:cNvPicPr>
            <a:picLocks noChangeAspect="1" noChangeArrowheads="1"/>
          </p:cNvPicPr>
          <p:nvPr userDrawn="1"/>
        </p:nvPicPr>
        <p:blipFill>
          <a:blip r:embed="rId7">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2688923" y="6349509"/>
            <a:ext cx="727862" cy="36576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IcySea">
            <a:extLst>
              <a:ext uri="{FF2B5EF4-FFF2-40B4-BE49-F238E27FC236}">
                <a16:creationId xmlns:a16="http://schemas.microsoft.com/office/drawing/2014/main" id="{BA63EE1D-109C-C6C5-AE04-C98002373758}"/>
              </a:ext>
            </a:extLst>
          </p:cNvPr>
          <p:cNvPicPr>
            <a:picLocks noChangeAspect="1" noChangeArrowheads="1"/>
          </p:cNvPicPr>
          <p:nvPr userDrawn="1"/>
        </p:nvPicPr>
        <p:blipFill>
          <a:blip r:embed="rId9">
            <a:lum bright="70000" contrast="-70000"/>
            <a:extLst>
              <a:ext uri="{28A0092B-C50C-407E-A947-70E740481C1C}">
                <a14:useLocalDpi xmlns:a14="http://schemas.microsoft.com/office/drawing/2010/main" val="0"/>
              </a:ext>
            </a:extLst>
          </a:blip>
          <a:srcRect/>
          <a:stretch>
            <a:fillRect/>
          </a:stretch>
        </p:blipFill>
        <p:spPr bwMode="auto">
          <a:xfrm>
            <a:off x="1800503" y="6303789"/>
            <a:ext cx="542135" cy="457200"/>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34E48316-AF2E-3CFA-6BC1-97B00A0F8305}"/>
              </a:ext>
            </a:extLst>
          </p:cNvPr>
          <p:cNvGrpSpPr>
            <a:grpSpLocks noChangeAspect="1"/>
          </p:cNvGrpSpPr>
          <p:nvPr userDrawn="1"/>
        </p:nvGrpSpPr>
        <p:grpSpPr>
          <a:xfrm>
            <a:off x="6123025" y="6349509"/>
            <a:ext cx="1382575" cy="365760"/>
            <a:chOff x="8184232" y="6113391"/>
            <a:chExt cx="2128241" cy="563026"/>
          </a:xfrm>
        </p:grpSpPr>
        <p:pic>
          <p:nvPicPr>
            <p:cNvPr id="13" name="Picture 12">
              <a:extLst>
                <a:ext uri="{FF2B5EF4-FFF2-40B4-BE49-F238E27FC236}">
                  <a16:creationId xmlns:a16="http://schemas.microsoft.com/office/drawing/2014/main" id="{5A1B2F6A-E005-01C0-A20A-F7C6B0F995C0}"/>
                </a:ext>
              </a:extLst>
            </p:cNvPr>
            <p:cNvPicPr>
              <a:picLocks noChangeAspect="1"/>
            </p:cNvPicPr>
            <p:nvPr/>
          </p:nvPicPr>
          <p:blipFill rotWithShape="1">
            <a:blip r:embed="rId10">
              <a:duotone>
                <a:schemeClr val="accent5">
                  <a:shade val="45000"/>
                  <a:satMod val="135000"/>
                </a:schemeClr>
                <a:prstClr val="white"/>
              </a:duotone>
            </a:blip>
            <a:srcRect r="71446"/>
            <a:stretch/>
          </p:blipFill>
          <p:spPr>
            <a:xfrm>
              <a:off x="8184232" y="6113391"/>
              <a:ext cx="607689" cy="563026"/>
            </a:xfrm>
            <a:prstGeom prst="rect">
              <a:avLst/>
            </a:prstGeom>
          </p:spPr>
        </p:pic>
        <p:pic>
          <p:nvPicPr>
            <p:cNvPr id="14" name="Picture 13">
              <a:extLst>
                <a:ext uri="{FF2B5EF4-FFF2-40B4-BE49-F238E27FC236}">
                  <a16:creationId xmlns:a16="http://schemas.microsoft.com/office/drawing/2014/main" id="{81492F54-E23A-C09C-E027-CB088A843267}"/>
                </a:ext>
              </a:extLst>
            </p:cNvPr>
            <p:cNvPicPr>
              <a:picLocks noChangeAspect="1"/>
            </p:cNvPicPr>
            <p:nvPr/>
          </p:nvPicPr>
          <p:blipFill rotWithShape="1">
            <a:blip r:embed="rId11">
              <a:lum bright="70000" contrast="-70000"/>
              <a:extLst>
                <a:ext uri="{BEBA8EAE-BF5A-486C-A8C5-ECC9F3942E4B}">
                  <a14:imgProps xmlns:a14="http://schemas.microsoft.com/office/drawing/2010/main">
                    <a14:imgLayer r:embed="rId12">
                      <a14:imgEffect>
                        <a14:artisticPhotocopy/>
                      </a14:imgEffect>
                    </a14:imgLayer>
                  </a14:imgProps>
                </a:ext>
              </a:extLst>
            </a:blip>
            <a:srcRect l="28554"/>
            <a:stretch/>
          </p:blipFill>
          <p:spPr>
            <a:xfrm>
              <a:off x="8791921" y="6113391"/>
              <a:ext cx="1520552" cy="563026"/>
            </a:xfrm>
            <a:prstGeom prst="rect">
              <a:avLst/>
            </a:prstGeom>
          </p:spPr>
        </p:pic>
      </p:grpSp>
      <p:pic>
        <p:nvPicPr>
          <p:cNvPr id="16" name="Picture 15">
            <a:extLst>
              <a:ext uri="{FF2B5EF4-FFF2-40B4-BE49-F238E27FC236}">
                <a16:creationId xmlns:a16="http://schemas.microsoft.com/office/drawing/2014/main" id="{14124C68-127F-0B18-DA61-36E683AB38B9}"/>
              </a:ext>
            </a:extLst>
          </p:cNvPr>
          <p:cNvPicPr>
            <a:picLocks noChangeAspect="1"/>
          </p:cNvPicPr>
          <p:nvPr userDrawn="1"/>
        </p:nvPicPr>
        <p:blipFill>
          <a:blip r:embed="rId13"/>
          <a:stretch>
            <a:fillRect/>
          </a:stretch>
        </p:blipFill>
        <p:spPr>
          <a:xfrm>
            <a:off x="5410980" y="6349509"/>
            <a:ext cx="365760" cy="365760"/>
          </a:xfrm>
          <a:prstGeom prst="rect">
            <a:avLst/>
          </a:prstGeom>
        </p:spPr>
      </p:pic>
      <p:pic>
        <p:nvPicPr>
          <p:cNvPr id="3074" name="Picture 2" descr="Norwegian Meteorological Institute | Key Processes to understand Arctic  Climate Warming">
            <a:extLst>
              <a:ext uri="{FF2B5EF4-FFF2-40B4-BE49-F238E27FC236}">
                <a16:creationId xmlns:a16="http://schemas.microsoft.com/office/drawing/2014/main" id="{A5CA2DA1-0DA5-1ED6-BDC7-D78952E454E0}"/>
              </a:ext>
            </a:extLst>
          </p:cNvPr>
          <p:cNvPicPr>
            <a:picLocks noChangeAspect="1" noChangeArrowheads="1"/>
          </p:cNvPicPr>
          <p:nvPr userDrawn="1"/>
        </p:nvPicPr>
        <p:blipFill>
          <a:blip r:embed="rId14">
            <a:lum bright="70000" contrast="-70000"/>
            <a:extLst>
              <a:ext uri="{BEBA8EAE-BF5A-486C-A8C5-ECC9F3942E4B}">
                <a14:imgProps xmlns:a14="http://schemas.microsoft.com/office/drawing/2010/main">
                  <a14:imgLayer r:embed="rId15">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3763070" y="6349509"/>
            <a:ext cx="1301625" cy="36576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logo with different colored arrows&#10;&#10;Description automatically generated">
            <a:extLst>
              <a:ext uri="{FF2B5EF4-FFF2-40B4-BE49-F238E27FC236}">
                <a16:creationId xmlns:a16="http://schemas.microsoft.com/office/drawing/2014/main" id="{B69AE4E1-5E9C-4F1B-62C0-8A39F856AA15}"/>
              </a:ext>
            </a:extLst>
          </p:cNvPr>
          <p:cNvPicPr>
            <a:picLocks noChangeAspect="1"/>
          </p:cNvPicPr>
          <p:nvPr userDrawn="1"/>
        </p:nvPicPr>
        <p:blipFill>
          <a:blip r:embed="rId16"/>
          <a:stretch>
            <a:fillRect/>
          </a:stretch>
        </p:blipFill>
        <p:spPr>
          <a:xfrm>
            <a:off x="611845" y="134133"/>
            <a:ext cx="835713" cy="900000"/>
          </a:xfrm>
          <a:prstGeom prst="rect">
            <a:avLst/>
          </a:prstGeom>
        </p:spPr>
      </p:pic>
    </p:spTree>
    <p:extLst>
      <p:ext uri="{BB962C8B-B14F-4D97-AF65-F5344CB8AC3E}">
        <p14:creationId xmlns:p14="http://schemas.microsoft.com/office/powerpoint/2010/main" val="250531137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2135778"/>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14400" y="1109304"/>
            <a:ext cx="10363200" cy="102647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95D6221-4853-2D40-B591-ECF55C3748E1}" type="datetimeFigureOut">
              <a:rPr lang="en-US" smtClean="0"/>
              <a:t>6/27/2025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63D51D-53A8-2449-9FDA-CB2443F42A29}" type="slidenum">
              <a:rPr lang="en-US" smtClean="0"/>
              <a:t>‹#›</a:t>
            </a:fld>
            <a:endParaRPr lang="en-US"/>
          </a:p>
        </p:txBody>
      </p:sp>
      <p:pic>
        <p:nvPicPr>
          <p:cNvPr id="7" name="Picture 6">
            <a:extLst>
              <a:ext uri="{FF2B5EF4-FFF2-40B4-BE49-F238E27FC236}">
                <a16:creationId xmlns:a16="http://schemas.microsoft.com/office/drawing/2014/main" id="{F469F348-1510-75F5-E727-D190A762777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40407" y="6349509"/>
            <a:ext cx="2228201" cy="365760"/>
          </a:xfrm>
          <a:prstGeom prst="rect">
            <a:avLst/>
          </a:prstGeom>
        </p:spPr>
      </p:pic>
      <p:pic>
        <p:nvPicPr>
          <p:cNvPr id="8" name="Picture 7">
            <a:extLst>
              <a:ext uri="{FF2B5EF4-FFF2-40B4-BE49-F238E27FC236}">
                <a16:creationId xmlns:a16="http://schemas.microsoft.com/office/drawing/2014/main" id="{4FA6D770-59B6-AAB9-A00D-426D37286A4C}"/>
              </a:ext>
            </a:extLst>
          </p:cNvPr>
          <p:cNvPicPr>
            <a:picLocks noChangeAspect="1"/>
          </p:cNvPicPr>
          <p:nvPr userDrawn="1"/>
        </p:nvPicPr>
        <p:blipFill>
          <a:blip r:embed="rId4" cstate="screen">
            <a:lum bright="70000" contrast="-70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a:ext>
            </a:extLst>
          </a:blip>
          <a:srcRect/>
          <a:stretch>
            <a:fillRect/>
          </a:stretch>
        </p:blipFill>
        <p:spPr bwMode="auto">
          <a:xfrm>
            <a:off x="7851885" y="6395229"/>
            <a:ext cx="1142238" cy="274320"/>
          </a:xfrm>
          <a:prstGeom prst="rect">
            <a:avLst/>
          </a:prstGeom>
          <a:noFill/>
        </p:spPr>
      </p:pic>
      <p:pic>
        <p:nvPicPr>
          <p:cNvPr id="9" name="Picture 8">
            <a:extLst>
              <a:ext uri="{FF2B5EF4-FFF2-40B4-BE49-F238E27FC236}">
                <a16:creationId xmlns:a16="http://schemas.microsoft.com/office/drawing/2014/main" id="{E7B4BD20-A0C9-1614-8302-51005D390CCA}"/>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596820" y="6349509"/>
            <a:ext cx="857398" cy="365760"/>
          </a:xfrm>
          <a:prstGeom prst="rect">
            <a:avLst/>
          </a:prstGeom>
        </p:spPr>
      </p:pic>
      <p:pic>
        <p:nvPicPr>
          <p:cNvPr id="10" name="Picture 6" descr="Support the Finnish Meteorological Institute | CMEMS">
            <a:extLst>
              <a:ext uri="{FF2B5EF4-FFF2-40B4-BE49-F238E27FC236}">
                <a16:creationId xmlns:a16="http://schemas.microsoft.com/office/drawing/2014/main" id="{6FC46FFE-D98A-AD9C-143D-39DD392DD91F}"/>
              </a:ext>
            </a:extLst>
          </p:cNvPr>
          <p:cNvPicPr>
            <a:picLocks noChangeAspect="1" noChangeArrowheads="1"/>
          </p:cNvPicPr>
          <p:nvPr userDrawn="1"/>
        </p:nvPicPr>
        <p:blipFill>
          <a:blip r:embed="rId7">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2688923" y="6349509"/>
            <a:ext cx="727862" cy="3657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IcySea">
            <a:extLst>
              <a:ext uri="{FF2B5EF4-FFF2-40B4-BE49-F238E27FC236}">
                <a16:creationId xmlns:a16="http://schemas.microsoft.com/office/drawing/2014/main" id="{9262D48E-C482-BE75-9704-802CF7C69EB0}"/>
              </a:ext>
            </a:extLst>
          </p:cNvPr>
          <p:cNvPicPr>
            <a:picLocks noChangeAspect="1" noChangeArrowheads="1"/>
          </p:cNvPicPr>
          <p:nvPr userDrawn="1"/>
        </p:nvPicPr>
        <p:blipFill>
          <a:blip r:embed="rId9">
            <a:lum bright="70000" contrast="-70000"/>
            <a:extLst>
              <a:ext uri="{28A0092B-C50C-407E-A947-70E740481C1C}">
                <a14:useLocalDpi xmlns:a14="http://schemas.microsoft.com/office/drawing/2010/main" val="0"/>
              </a:ext>
            </a:extLst>
          </a:blip>
          <a:srcRect/>
          <a:stretch>
            <a:fillRect/>
          </a:stretch>
        </p:blipFill>
        <p:spPr bwMode="auto">
          <a:xfrm>
            <a:off x="1800503" y="6303789"/>
            <a:ext cx="542135" cy="457200"/>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62BE1638-89CF-32F2-B7BC-738444142DE6}"/>
              </a:ext>
            </a:extLst>
          </p:cNvPr>
          <p:cNvGrpSpPr>
            <a:grpSpLocks noChangeAspect="1"/>
          </p:cNvGrpSpPr>
          <p:nvPr userDrawn="1"/>
        </p:nvGrpSpPr>
        <p:grpSpPr>
          <a:xfrm>
            <a:off x="6123025" y="6349509"/>
            <a:ext cx="1382575" cy="365760"/>
            <a:chOff x="8184232" y="6113391"/>
            <a:chExt cx="2128241" cy="563026"/>
          </a:xfrm>
        </p:grpSpPr>
        <p:pic>
          <p:nvPicPr>
            <p:cNvPr id="13" name="Picture 12">
              <a:extLst>
                <a:ext uri="{FF2B5EF4-FFF2-40B4-BE49-F238E27FC236}">
                  <a16:creationId xmlns:a16="http://schemas.microsoft.com/office/drawing/2014/main" id="{B6AC3F54-9CA1-A5AC-06E9-EEC9ACDCFECA}"/>
                </a:ext>
              </a:extLst>
            </p:cNvPr>
            <p:cNvPicPr>
              <a:picLocks noChangeAspect="1"/>
            </p:cNvPicPr>
            <p:nvPr/>
          </p:nvPicPr>
          <p:blipFill rotWithShape="1">
            <a:blip r:embed="rId10">
              <a:duotone>
                <a:schemeClr val="accent5">
                  <a:shade val="45000"/>
                  <a:satMod val="135000"/>
                </a:schemeClr>
                <a:prstClr val="white"/>
              </a:duotone>
            </a:blip>
            <a:srcRect r="71446"/>
            <a:stretch/>
          </p:blipFill>
          <p:spPr>
            <a:xfrm>
              <a:off x="8184232" y="6113391"/>
              <a:ext cx="607689" cy="563026"/>
            </a:xfrm>
            <a:prstGeom prst="rect">
              <a:avLst/>
            </a:prstGeom>
          </p:spPr>
        </p:pic>
        <p:pic>
          <p:nvPicPr>
            <p:cNvPr id="14" name="Picture 13">
              <a:extLst>
                <a:ext uri="{FF2B5EF4-FFF2-40B4-BE49-F238E27FC236}">
                  <a16:creationId xmlns:a16="http://schemas.microsoft.com/office/drawing/2014/main" id="{B64179D7-A652-BD4E-FFEC-9D1BB0D44587}"/>
                </a:ext>
              </a:extLst>
            </p:cNvPr>
            <p:cNvPicPr>
              <a:picLocks noChangeAspect="1"/>
            </p:cNvPicPr>
            <p:nvPr/>
          </p:nvPicPr>
          <p:blipFill rotWithShape="1">
            <a:blip r:embed="rId11">
              <a:lum bright="70000" contrast="-70000"/>
              <a:extLst>
                <a:ext uri="{BEBA8EAE-BF5A-486C-A8C5-ECC9F3942E4B}">
                  <a14:imgProps xmlns:a14="http://schemas.microsoft.com/office/drawing/2010/main">
                    <a14:imgLayer r:embed="rId12">
                      <a14:imgEffect>
                        <a14:artisticPhotocopy/>
                      </a14:imgEffect>
                    </a14:imgLayer>
                  </a14:imgProps>
                </a:ext>
              </a:extLst>
            </a:blip>
            <a:srcRect l="28554"/>
            <a:stretch/>
          </p:blipFill>
          <p:spPr>
            <a:xfrm>
              <a:off x="8791921" y="6113391"/>
              <a:ext cx="1520552" cy="563026"/>
            </a:xfrm>
            <a:prstGeom prst="rect">
              <a:avLst/>
            </a:prstGeom>
          </p:spPr>
        </p:pic>
      </p:grpSp>
      <p:pic>
        <p:nvPicPr>
          <p:cNvPr id="15" name="Picture 14">
            <a:extLst>
              <a:ext uri="{FF2B5EF4-FFF2-40B4-BE49-F238E27FC236}">
                <a16:creationId xmlns:a16="http://schemas.microsoft.com/office/drawing/2014/main" id="{80B401F4-DE44-0924-8554-9463782A4C44}"/>
              </a:ext>
            </a:extLst>
          </p:cNvPr>
          <p:cNvPicPr>
            <a:picLocks noChangeAspect="1"/>
          </p:cNvPicPr>
          <p:nvPr userDrawn="1"/>
        </p:nvPicPr>
        <p:blipFill>
          <a:blip r:embed="rId13"/>
          <a:stretch>
            <a:fillRect/>
          </a:stretch>
        </p:blipFill>
        <p:spPr>
          <a:xfrm>
            <a:off x="5410980" y="6349509"/>
            <a:ext cx="365760" cy="365760"/>
          </a:xfrm>
          <a:prstGeom prst="rect">
            <a:avLst/>
          </a:prstGeom>
        </p:spPr>
      </p:pic>
      <p:pic>
        <p:nvPicPr>
          <p:cNvPr id="16" name="Picture 2" descr="Norwegian Meteorological Institute | Key Processes to understand Arctic  Climate Warming">
            <a:extLst>
              <a:ext uri="{FF2B5EF4-FFF2-40B4-BE49-F238E27FC236}">
                <a16:creationId xmlns:a16="http://schemas.microsoft.com/office/drawing/2014/main" id="{0B272A5A-FDF7-E945-65E5-9E571F715E16}"/>
              </a:ext>
            </a:extLst>
          </p:cNvPr>
          <p:cNvPicPr>
            <a:picLocks noChangeAspect="1" noChangeArrowheads="1"/>
          </p:cNvPicPr>
          <p:nvPr userDrawn="1"/>
        </p:nvPicPr>
        <p:blipFill>
          <a:blip r:embed="rId14">
            <a:lum bright="70000" contrast="-70000"/>
            <a:extLst>
              <a:ext uri="{BEBA8EAE-BF5A-486C-A8C5-ECC9F3942E4B}">
                <a14:imgProps xmlns:a14="http://schemas.microsoft.com/office/drawing/2010/main">
                  <a14:imgLayer r:embed="rId15">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3763070" y="6349509"/>
            <a:ext cx="1301625" cy="36576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A logo with different colored arrows&#10;&#10;Description automatically generated">
            <a:extLst>
              <a:ext uri="{FF2B5EF4-FFF2-40B4-BE49-F238E27FC236}">
                <a16:creationId xmlns:a16="http://schemas.microsoft.com/office/drawing/2014/main" id="{56C74B43-9F93-DC25-63C5-F8496A6E776A}"/>
              </a:ext>
            </a:extLst>
          </p:cNvPr>
          <p:cNvPicPr>
            <a:picLocks noChangeAspect="1"/>
          </p:cNvPicPr>
          <p:nvPr userDrawn="1"/>
        </p:nvPicPr>
        <p:blipFill>
          <a:blip r:embed="rId16"/>
          <a:stretch>
            <a:fillRect/>
          </a:stretch>
        </p:blipFill>
        <p:spPr>
          <a:xfrm>
            <a:off x="611845" y="134133"/>
            <a:ext cx="835713" cy="900000"/>
          </a:xfrm>
          <a:prstGeom prst="rect">
            <a:avLst/>
          </a:prstGeom>
        </p:spPr>
      </p:pic>
      <p:sp>
        <p:nvSpPr>
          <p:cNvPr id="20" name="Title 1">
            <a:extLst>
              <a:ext uri="{FF2B5EF4-FFF2-40B4-BE49-F238E27FC236}">
                <a16:creationId xmlns:a16="http://schemas.microsoft.com/office/drawing/2014/main" id="{A901CD89-1D50-4F48-66AD-CE4021555857}"/>
              </a:ext>
            </a:extLst>
          </p:cNvPr>
          <p:cNvSpPr txBox="1">
            <a:spLocks/>
          </p:cNvSpPr>
          <p:nvPr userDrawn="1"/>
        </p:nvSpPr>
        <p:spPr>
          <a:xfrm>
            <a:off x="1631504" y="7660"/>
            <a:ext cx="9950896" cy="102647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bg1"/>
                </a:solidFill>
                <a:latin typeface="+mj-lt"/>
                <a:ea typeface="+mj-ea"/>
                <a:cs typeface="+mj-cs"/>
              </a:defRPr>
            </a:lvl1pPr>
          </a:lstStyle>
          <a:p>
            <a:pPr algn="l"/>
            <a:r>
              <a:rPr lang="en-GB" sz="2800" dirty="0"/>
              <a:t>Destination Earth Sea Ice Decision Enhancement</a:t>
            </a:r>
          </a:p>
          <a:p>
            <a:pPr algn="l"/>
            <a:r>
              <a:rPr lang="en-GB" sz="2800" dirty="0"/>
              <a:t>(DESIDE)</a:t>
            </a:r>
            <a:endParaRPr lang="en-US" sz="2800" dirty="0"/>
          </a:p>
        </p:txBody>
      </p:sp>
      <p:sp>
        <p:nvSpPr>
          <p:cNvPr id="21" name="Text Placeholder 2">
            <a:extLst>
              <a:ext uri="{FF2B5EF4-FFF2-40B4-BE49-F238E27FC236}">
                <a16:creationId xmlns:a16="http://schemas.microsoft.com/office/drawing/2014/main" id="{C301D2E1-C7ED-86B6-001E-80E13450A3BB}"/>
              </a:ext>
            </a:extLst>
          </p:cNvPr>
          <p:cNvSpPr>
            <a:spLocks noGrp="1"/>
          </p:cNvSpPr>
          <p:nvPr>
            <p:ph type="body" idx="13"/>
          </p:nvPr>
        </p:nvSpPr>
        <p:spPr>
          <a:xfrm>
            <a:off x="914400" y="4361304"/>
            <a:ext cx="10363200" cy="102647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991865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907"/>
            <a:ext cx="10972800" cy="1143000"/>
          </a:xfrm>
        </p:spPr>
        <p:txBody>
          <a:bodyPr/>
          <a:lstStyle>
            <a:lvl1pPr>
              <a:defRPr>
                <a:solidFill>
                  <a:schemeClr val="bg1"/>
                </a:solidFill>
              </a:defRPr>
            </a:lvl1pPr>
          </a:lstStyle>
          <a:p>
            <a:r>
              <a:rPr lang="en-GB" dirty="0"/>
              <a:t>Click to edit Master title style</a:t>
            </a:r>
            <a:endParaRPr lang="en-US" dirty="0"/>
          </a:p>
        </p:txBody>
      </p:sp>
      <p:sp>
        <p:nvSpPr>
          <p:cNvPr id="3" name="Content Placeholder 2"/>
          <p:cNvSpPr>
            <a:spLocks noGrp="1"/>
          </p:cNvSpPr>
          <p:nvPr>
            <p:ph sz="half" idx="1"/>
          </p:nvPr>
        </p:nvSpPr>
        <p:spPr>
          <a:xfrm>
            <a:off x="609600" y="1230285"/>
            <a:ext cx="5384800" cy="4895879"/>
          </a:xfrm>
        </p:spPr>
        <p:txBody>
          <a:bodyPr/>
          <a:lstStyle>
            <a:lvl1pPr>
              <a:defRPr sz="2800">
                <a:solidFill>
                  <a:schemeClr val="accent1">
                    <a:lumMod val="75000"/>
                  </a:schemeClr>
                </a:solidFill>
              </a:defRPr>
            </a:lvl1pPr>
            <a:lvl2pPr>
              <a:defRPr sz="2400">
                <a:solidFill>
                  <a:schemeClr val="accent1">
                    <a:lumMod val="75000"/>
                  </a:schemeClr>
                </a:solidFill>
              </a:defRPr>
            </a:lvl2pPr>
            <a:lvl3pPr>
              <a:defRPr sz="2000">
                <a:solidFill>
                  <a:schemeClr val="accent1">
                    <a:lumMod val="75000"/>
                  </a:schemeClr>
                </a:solidFill>
              </a:defRPr>
            </a:lvl3pPr>
            <a:lvl4pPr>
              <a:defRPr sz="1800">
                <a:solidFill>
                  <a:schemeClr val="accent1">
                    <a:lumMod val="75000"/>
                  </a:schemeClr>
                </a:solidFill>
              </a:defRPr>
            </a:lvl4pPr>
            <a:lvl5pPr>
              <a:defRPr sz="1800">
                <a:solidFill>
                  <a:schemeClr val="accent1">
                    <a:lumMod val="75000"/>
                  </a:schemeClr>
                </a:solidFill>
              </a:defRPr>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6197600" y="1230285"/>
            <a:ext cx="5384800" cy="4895879"/>
          </a:xfrm>
        </p:spPr>
        <p:txBody>
          <a:bodyPr/>
          <a:lstStyle>
            <a:lvl1pPr>
              <a:defRPr sz="2800">
                <a:solidFill>
                  <a:schemeClr val="accent1">
                    <a:lumMod val="75000"/>
                  </a:schemeClr>
                </a:solidFill>
              </a:defRPr>
            </a:lvl1pPr>
            <a:lvl2pPr>
              <a:defRPr sz="2400">
                <a:solidFill>
                  <a:schemeClr val="accent1">
                    <a:lumMod val="75000"/>
                  </a:schemeClr>
                </a:solidFill>
              </a:defRPr>
            </a:lvl2pPr>
            <a:lvl3pPr>
              <a:defRPr sz="2000">
                <a:solidFill>
                  <a:schemeClr val="accent1">
                    <a:lumMod val="75000"/>
                  </a:schemeClr>
                </a:solidFill>
              </a:defRPr>
            </a:lvl3pPr>
            <a:lvl4pPr>
              <a:defRPr sz="1800">
                <a:solidFill>
                  <a:schemeClr val="accent1">
                    <a:lumMod val="75000"/>
                  </a:schemeClr>
                </a:solidFill>
              </a:defRPr>
            </a:lvl4pPr>
            <a:lvl5pPr>
              <a:defRPr sz="1800">
                <a:solidFill>
                  <a:schemeClr val="accent1">
                    <a:lumMod val="75000"/>
                  </a:schemeClr>
                </a:solidFill>
              </a:defRPr>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Picture 8">
            <a:extLst>
              <a:ext uri="{FF2B5EF4-FFF2-40B4-BE49-F238E27FC236}">
                <a16:creationId xmlns:a16="http://schemas.microsoft.com/office/drawing/2014/main" id="{81D05D0C-C8BD-7131-0CDB-2E9DD4C80DE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40407" y="6349509"/>
            <a:ext cx="2228201" cy="365760"/>
          </a:xfrm>
          <a:prstGeom prst="rect">
            <a:avLst/>
          </a:prstGeom>
        </p:spPr>
      </p:pic>
      <p:pic>
        <p:nvPicPr>
          <p:cNvPr id="16" name="Picture 15">
            <a:extLst>
              <a:ext uri="{FF2B5EF4-FFF2-40B4-BE49-F238E27FC236}">
                <a16:creationId xmlns:a16="http://schemas.microsoft.com/office/drawing/2014/main" id="{348E3678-B00D-356E-B957-28EFD6A88867}"/>
              </a:ext>
            </a:extLst>
          </p:cNvPr>
          <p:cNvPicPr>
            <a:picLocks noChangeAspect="1"/>
          </p:cNvPicPr>
          <p:nvPr userDrawn="1"/>
        </p:nvPicPr>
        <p:blipFill>
          <a:blip r:embed="rId4" cstate="screen">
            <a:lum bright="70000" contrast="-70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a:ext>
            </a:extLst>
          </a:blip>
          <a:srcRect/>
          <a:stretch>
            <a:fillRect/>
          </a:stretch>
        </p:blipFill>
        <p:spPr bwMode="auto">
          <a:xfrm>
            <a:off x="7851885" y="6395229"/>
            <a:ext cx="1142238" cy="274320"/>
          </a:xfrm>
          <a:prstGeom prst="rect">
            <a:avLst/>
          </a:prstGeom>
          <a:noFill/>
        </p:spPr>
      </p:pic>
      <p:pic>
        <p:nvPicPr>
          <p:cNvPr id="17" name="Picture 16">
            <a:extLst>
              <a:ext uri="{FF2B5EF4-FFF2-40B4-BE49-F238E27FC236}">
                <a16:creationId xmlns:a16="http://schemas.microsoft.com/office/drawing/2014/main" id="{FA52440B-6E0A-7FC4-4FC2-A9E39928B835}"/>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596820" y="6349509"/>
            <a:ext cx="857398" cy="365760"/>
          </a:xfrm>
          <a:prstGeom prst="rect">
            <a:avLst/>
          </a:prstGeom>
        </p:spPr>
      </p:pic>
      <p:pic>
        <p:nvPicPr>
          <p:cNvPr id="18" name="Picture 6" descr="Support the Finnish Meteorological Institute | CMEMS">
            <a:extLst>
              <a:ext uri="{FF2B5EF4-FFF2-40B4-BE49-F238E27FC236}">
                <a16:creationId xmlns:a16="http://schemas.microsoft.com/office/drawing/2014/main" id="{75578879-134D-DD12-4DED-EA3AAC7E2363}"/>
              </a:ext>
            </a:extLst>
          </p:cNvPr>
          <p:cNvPicPr>
            <a:picLocks noChangeAspect="1" noChangeArrowheads="1"/>
          </p:cNvPicPr>
          <p:nvPr userDrawn="1"/>
        </p:nvPicPr>
        <p:blipFill>
          <a:blip r:embed="rId7">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2688923" y="6349509"/>
            <a:ext cx="727862" cy="36576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IcySea">
            <a:extLst>
              <a:ext uri="{FF2B5EF4-FFF2-40B4-BE49-F238E27FC236}">
                <a16:creationId xmlns:a16="http://schemas.microsoft.com/office/drawing/2014/main" id="{E60C8304-996A-AB55-A03B-2AB7F5B3E6FC}"/>
              </a:ext>
            </a:extLst>
          </p:cNvPr>
          <p:cNvPicPr>
            <a:picLocks noChangeAspect="1" noChangeArrowheads="1"/>
          </p:cNvPicPr>
          <p:nvPr userDrawn="1"/>
        </p:nvPicPr>
        <p:blipFill>
          <a:blip r:embed="rId9">
            <a:lum bright="70000" contrast="-70000"/>
            <a:extLst>
              <a:ext uri="{28A0092B-C50C-407E-A947-70E740481C1C}">
                <a14:useLocalDpi xmlns:a14="http://schemas.microsoft.com/office/drawing/2010/main" val="0"/>
              </a:ext>
            </a:extLst>
          </a:blip>
          <a:srcRect/>
          <a:stretch>
            <a:fillRect/>
          </a:stretch>
        </p:blipFill>
        <p:spPr bwMode="auto">
          <a:xfrm>
            <a:off x="1800503" y="6303789"/>
            <a:ext cx="542135" cy="457200"/>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5C12FB1A-8080-A0C2-3944-55161603DCF3}"/>
              </a:ext>
            </a:extLst>
          </p:cNvPr>
          <p:cNvGrpSpPr>
            <a:grpSpLocks noChangeAspect="1"/>
          </p:cNvGrpSpPr>
          <p:nvPr userDrawn="1"/>
        </p:nvGrpSpPr>
        <p:grpSpPr>
          <a:xfrm>
            <a:off x="6123025" y="6349509"/>
            <a:ext cx="1382575" cy="365760"/>
            <a:chOff x="8184232" y="6113391"/>
            <a:chExt cx="2128241" cy="563026"/>
          </a:xfrm>
        </p:grpSpPr>
        <p:pic>
          <p:nvPicPr>
            <p:cNvPr id="21" name="Picture 20">
              <a:extLst>
                <a:ext uri="{FF2B5EF4-FFF2-40B4-BE49-F238E27FC236}">
                  <a16:creationId xmlns:a16="http://schemas.microsoft.com/office/drawing/2014/main" id="{AB1C745B-F8F5-95E6-9811-CDC03E843ADB}"/>
                </a:ext>
              </a:extLst>
            </p:cNvPr>
            <p:cNvPicPr>
              <a:picLocks noChangeAspect="1"/>
            </p:cNvPicPr>
            <p:nvPr/>
          </p:nvPicPr>
          <p:blipFill rotWithShape="1">
            <a:blip r:embed="rId10">
              <a:duotone>
                <a:schemeClr val="accent5">
                  <a:shade val="45000"/>
                  <a:satMod val="135000"/>
                </a:schemeClr>
                <a:prstClr val="white"/>
              </a:duotone>
            </a:blip>
            <a:srcRect r="71446"/>
            <a:stretch/>
          </p:blipFill>
          <p:spPr>
            <a:xfrm>
              <a:off x="8184232" y="6113391"/>
              <a:ext cx="607689" cy="563026"/>
            </a:xfrm>
            <a:prstGeom prst="rect">
              <a:avLst/>
            </a:prstGeom>
          </p:spPr>
        </p:pic>
        <p:pic>
          <p:nvPicPr>
            <p:cNvPr id="22" name="Picture 21">
              <a:extLst>
                <a:ext uri="{FF2B5EF4-FFF2-40B4-BE49-F238E27FC236}">
                  <a16:creationId xmlns:a16="http://schemas.microsoft.com/office/drawing/2014/main" id="{3CAD0901-7FB0-CC8F-C598-FCE627C89C59}"/>
                </a:ext>
              </a:extLst>
            </p:cNvPr>
            <p:cNvPicPr>
              <a:picLocks noChangeAspect="1"/>
            </p:cNvPicPr>
            <p:nvPr/>
          </p:nvPicPr>
          <p:blipFill rotWithShape="1">
            <a:blip r:embed="rId11">
              <a:lum bright="70000" contrast="-70000"/>
              <a:extLst>
                <a:ext uri="{BEBA8EAE-BF5A-486C-A8C5-ECC9F3942E4B}">
                  <a14:imgProps xmlns:a14="http://schemas.microsoft.com/office/drawing/2010/main">
                    <a14:imgLayer r:embed="rId12">
                      <a14:imgEffect>
                        <a14:artisticPhotocopy/>
                      </a14:imgEffect>
                    </a14:imgLayer>
                  </a14:imgProps>
                </a:ext>
              </a:extLst>
            </a:blip>
            <a:srcRect l="28554"/>
            <a:stretch/>
          </p:blipFill>
          <p:spPr>
            <a:xfrm>
              <a:off x="8791921" y="6113391"/>
              <a:ext cx="1520552" cy="563026"/>
            </a:xfrm>
            <a:prstGeom prst="rect">
              <a:avLst/>
            </a:prstGeom>
          </p:spPr>
        </p:pic>
      </p:grpSp>
      <p:pic>
        <p:nvPicPr>
          <p:cNvPr id="23" name="Picture 22">
            <a:extLst>
              <a:ext uri="{FF2B5EF4-FFF2-40B4-BE49-F238E27FC236}">
                <a16:creationId xmlns:a16="http://schemas.microsoft.com/office/drawing/2014/main" id="{654D01A7-9D56-9391-5E21-B95E22033FDB}"/>
              </a:ext>
            </a:extLst>
          </p:cNvPr>
          <p:cNvPicPr>
            <a:picLocks noChangeAspect="1"/>
          </p:cNvPicPr>
          <p:nvPr userDrawn="1"/>
        </p:nvPicPr>
        <p:blipFill>
          <a:blip r:embed="rId13"/>
          <a:stretch>
            <a:fillRect/>
          </a:stretch>
        </p:blipFill>
        <p:spPr>
          <a:xfrm>
            <a:off x="5410980" y="6349509"/>
            <a:ext cx="365760" cy="365760"/>
          </a:xfrm>
          <a:prstGeom prst="rect">
            <a:avLst/>
          </a:prstGeom>
        </p:spPr>
      </p:pic>
      <p:pic>
        <p:nvPicPr>
          <p:cNvPr id="24" name="Picture 2" descr="Norwegian Meteorological Institute | Key Processes to understand Arctic  Climate Warming">
            <a:extLst>
              <a:ext uri="{FF2B5EF4-FFF2-40B4-BE49-F238E27FC236}">
                <a16:creationId xmlns:a16="http://schemas.microsoft.com/office/drawing/2014/main" id="{DF708BE2-A9F6-CD39-F227-B5B176341A8A}"/>
              </a:ext>
            </a:extLst>
          </p:cNvPr>
          <p:cNvPicPr>
            <a:picLocks noChangeAspect="1" noChangeArrowheads="1"/>
          </p:cNvPicPr>
          <p:nvPr userDrawn="1"/>
        </p:nvPicPr>
        <p:blipFill>
          <a:blip r:embed="rId14">
            <a:lum bright="70000" contrast="-70000"/>
            <a:extLst>
              <a:ext uri="{BEBA8EAE-BF5A-486C-A8C5-ECC9F3942E4B}">
                <a14:imgProps xmlns:a14="http://schemas.microsoft.com/office/drawing/2010/main">
                  <a14:imgLayer r:embed="rId15">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3763070" y="6349509"/>
            <a:ext cx="1301625"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0498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1126515"/>
            <a:ext cx="10972800" cy="1143000"/>
          </a:xfr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2386990"/>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3026753"/>
            <a:ext cx="5386917" cy="309941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Text Placeholder 4"/>
          <p:cNvSpPr>
            <a:spLocks noGrp="1"/>
          </p:cNvSpPr>
          <p:nvPr>
            <p:ph type="body" sz="quarter" idx="3"/>
          </p:nvPr>
        </p:nvSpPr>
        <p:spPr>
          <a:xfrm>
            <a:off x="6193368" y="2386990"/>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3026753"/>
            <a:ext cx="5389033" cy="309941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D95D6221-4853-2D40-B591-ECF55C3748E1}" type="datetimeFigureOut">
              <a:rPr lang="en-US" smtClean="0"/>
              <a:t>6/27/2025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63D51D-53A8-2449-9FDA-CB2443F42A29}" type="slidenum">
              <a:rPr lang="en-US" smtClean="0"/>
              <a:t>‹#›</a:t>
            </a:fld>
            <a:endParaRPr lang="en-US"/>
          </a:p>
        </p:txBody>
      </p:sp>
    </p:spTree>
    <p:extLst>
      <p:ext uri="{BB962C8B-B14F-4D97-AF65-F5344CB8AC3E}">
        <p14:creationId xmlns:p14="http://schemas.microsoft.com/office/powerpoint/2010/main" val="174827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4657"/>
            <a:ext cx="10972800" cy="1143000"/>
          </a:xfrm>
        </p:spPr>
        <p:txBody>
          <a:bodyPr/>
          <a:lstStyle>
            <a:lvl1pPr>
              <a:defRPr>
                <a:solidFill>
                  <a:schemeClr val="bg1"/>
                </a:solidFill>
              </a:defRPr>
            </a:lvl1pPr>
          </a:lstStyle>
          <a:p>
            <a:r>
              <a:rPr lang="en-GB"/>
              <a:t>Click to edit Master title style</a:t>
            </a:r>
            <a:endParaRPr lang="en-US"/>
          </a:p>
        </p:txBody>
      </p:sp>
      <p:sp>
        <p:nvSpPr>
          <p:cNvPr id="3" name="Date Placeholder 2"/>
          <p:cNvSpPr>
            <a:spLocks noGrp="1"/>
          </p:cNvSpPr>
          <p:nvPr>
            <p:ph type="dt" sz="half" idx="10"/>
          </p:nvPr>
        </p:nvSpPr>
        <p:spPr/>
        <p:txBody>
          <a:bodyPr/>
          <a:lstStyle/>
          <a:p>
            <a:fld id="{D95D6221-4853-2D40-B591-ECF55C3748E1}" type="datetimeFigureOut">
              <a:rPr lang="en-US" smtClean="0"/>
              <a:t>6/27/2025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63D51D-53A8-2449-9FDA-CB2443F42A29}" type="slidenum">
              <a:rPr lang="en-US" smtClean="0"/>
              <a:t>‹#›</a:t>
            </a:fld>
            <a:endParaRPr lang="en-US"/>
          </a:p>
        </p:txBody>
      </p:sp>
      <p:pic>
        <p:nvPicPr>
          <p:cNvPr id="6" name="Picture 5"/>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9093188" y="6347627"/>
            <a:ext cx="2458593" cy="403579"/>
          </a:xfrm>
          <a:prstGeom prst="rect">
            <a:avLst/>
          </a:prstGeom>
        </p:spPr>
      </p:pic>
      <p:pic>
        <p:nvPicPr>
          <p:cNvPr id="7" name="Picture 6"/>
          <p:cNvPicPr>
            <a:picLocks/>
          </p:cNvPicPr>
          <p:nvPr userDrawn="1"/>
        </p:nvPicPr>
        <p:blipFill>
          <a:blip r:embed="rId4" cstate="screen">
            <a:extLst>
              <a:ext uri="{28A0092B-C50C-407E-A947-70E740481C1C}">
                <a14:useLocalDpi xmlns:a14="http://schemas.microsoft.com/office/drawing/2010/main"/>
              </a:ext>
            </a:extLst>
          </a:blip>
          <a:stretch>
            <a:fillRect/>
          </a:stretch>
        </p:blipFill>
        <p:spPr>
          <a:xfrm>
            <a:off x="591933" y="6069684"/>
            <a:ext cx="1670471" cy="833419"/>
          </a:xfrm>
          <a:prstGeom prst="rect">
            <a:avLst/>
          </a:prstGeom>
        </p:spPr>
      </p:pic>
    </p:spTree>
    <p:extLst>
      <p:ext uri="{BB962C8B-B14F-4D97-AF65-F5344CB8AC3E}">
        <p14:creationId xmlns:p14="http://schemas.microsoft.com/office/powerpoint/2010/main" val="3457824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5D6221-4853-2D40-B591-ECF55C3748E1}" type="datetimeFigureOut">
              <a:rPr lang="en-US" smtClean="0"/>
              <a:t>6/27/2025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63D51D-53A8-2449-9FDA-CB2443F42A29}" type="slidenum">
              <a:rPr lang="en-US" smtClean="0"/>
              <a:t>‹#›</a:t>
            </a:fld>
            <a:endParaRPr lang="en-US"/>
          </a:p>
        </p:txBody>
      </p:sp>
    </p:spTree>
    <p:extLst>
      <p:ext uri="{BB962C8B-B14F-4D97-AF65-F5344CB8AC3E}">
        <p14:creationId xmlns:p14="http://schemas.microsoft.com/office/powerpoint/2010/main" val="152427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1" y="1125415"/>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1125415"/>
            <a:ext cx="6815667" cy="500074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2287465"/>
            <a:ext cx="4011084" cy="383869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dirty="0"/>
              <a:t>Click to edit Master text styles</a:t>
            </a:r>
          </a:p>
        </p:txBody>
      </p:sp>
      <p:sp>
        <p:nvSpPr>
          <p:cNvPr id="5" name="Date Placeholder 4"/>
          <p:cNvSpPr>
            <a:spLocks noGrp="1"/>
          </p:cNvSpPr>
          <p:nvPr>
            <p:ph type="dt" sz="half" idx="10"/>
          </p:nvPr>
        </p:nvSpPr>
        <p:spPr/>
        <p:txBody>
          <a:bodyPr/>
          <a:lstStyle/>
          <a:p>
            <a:fld id="{D95D6221-4853-2D40-B591-ECF55C3748E1}" type="datetimeFigureOut">
              <a:rPr lang="en-US" smtClean="0"/>
              <a:t>6/27/2025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63D51D-53A8-2449-9FDA-CB2443F42A29}" type="slidenum">
              <a:rPr lang="en-US" smtClean="0"/>
              <a:t>‹#›</a:t>
            </a:fld>
            <a:endParaRPr lang="en-US"/>
          </a:p>
        </p:txBody>
      </p:sp>
    </p:spTree>
    <p:extLst>
      <p:ext uri="{BB962C8B-B14F-4D97-AF65-F5344CB8AC3E}">
        <p14:creationId xmlns:p14="http://schemas.microsoft.com/office/powerpoint/2010/main" val="242252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1133231"/>
            <a:ext cx="7315200" cy="35943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95D6221-4853-2D40-B591-ECF55C3748E1}" type="datetimeFigureOut">
              <a:rPr lang="en-US" smtClean="0"/>
              <a:t>6/27/2025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63D51D-53A8-2449-9FDA-CB2443F42A29}" type="slidenum">
              <a:rPr lang="en-US" smtClean="0"/>
              <a:t>‹#›</a:t>
            </a:fld>
            <a:endParaRPr lang="en-US"/>
          </a:p>
        </p:txBody>
      </p:sp>
    </p:spTree>
    <p:extLst>
      <p:ext uri="{BB962C8B-B14F-4D97-AF65-F5344CB8AC3E}">
        <p14:creationId xmlns:p14="http://schemas.microsoft.com/office/powerpoint/2010/main" val="3482373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1119921"/>
            <a:ext cx="10972800" cy="1143000"/>
          </a:xfrm>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609600" y="2493109"/>
            <a:ext cx="10972800" cy="363305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95D6221-4853-2D40-B591-ECF55C3748E1}" type="datetimeFigureOut">
              <a:rPr lang="en-US" smtClean="0"/>
              <a:t>6/27/2025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63D51D-53A8-2449-9FDA-CB2443F42A29}" type="slidenum">
              <a:rPr lang="en-US" smtClean="0"/>
              <a:t>‹#›</a:t>
            </a:fld>
            <a:endParaRPr lang="en-US"/>
          </a:p>
        </p:txBody>
      </p:sp>
    </p:spTree>
    <p:extLst>
      <p:ext uri="{BB962C8B-B14F-4D97-AF65-F5344CB8AC3E}">
        <p14:creationId xmlns:p14="http://schemas.microsoft.com/office/powerpoint/2010/main" val="178357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133231"/>
            <a:ext cx="2743200" cy="4992932"/>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1133231"/>
            <a:ext cx="8026400" cy="499293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95D6221-4853-2D40-B591-ECF55C3748E1}" type="datetimeFigureOut">
              <a:rPr lang="en-US" smtClean="0"/>
              <a:t>6/27/2025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63D51D-53A8-2449-9FDA-CB2443F42A29}" type="slidenum">
              <a:rPr lang="en-US" smtClean="0"/>
              <a:t>‹#›</a:t>
            </a:fld>
            <a:endParaRPr lang="en-US"/>
          </a:p>
        </p:txBody>
      </p:sp>
    </p:spTree>
    <p:extLst>
      <p:ext uri="{BB962C8B-B14F-4D97-AF65-F5344CB8AC3E}">
        <p14:creationId xmlns:p14="http://schemas.microsoft.com/office/powerpoint/2010/main" val="28984666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ullets">
  <p:cSld name="Bullets">
    <p:bg>
      <p:bgPr>
        <a:solidFill>
          <a:schemeClr val="lt1"/>
        </a:solidFill>
        <a:effectLst/>
      </p:bgPr>
    </p:bg>
    <p:spTree>
      <p:nvGrpSpPr>
        <p:cNvPr id="1" name="Shape 72"/>
        <p:cNvGrpSpPr/>
        <p:nvPr/>
      </p:nvGrpSpPr>
      <p:grpSpPr>
        <a:xfrm>
          <a:off x="0" y="0"/>
          <a:ext cx="0" cy="0"/>
          <a:chOff x="0" y="0"/>
          <a:chExt cx="0" cy="0"/>
        </a:xfrm>
      </p:grpSpPr>
      <p:sp>
        <p:nvSpPr>
          <p:cNvPr id="73" name="Google Shape;73;p8"/>
          <p:cNvSpPr txBox="1">
            <a:spLocks noGrp="1"/>
          </p:cNvSpPr>
          <p:nvPr>
            <p:ph type="title"/>
          </p:nvPr>
        </p:nvSpPr>
        <p:spPr>
          <a:xfrm>
            <a:off x="515939" y="549275"/>
            <a:ext cx="11160125" cy="99373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122037"/>
              </a:buClr>
              <a:buSzPts val="3000"/>
              <a:buFont typeface="Arial Black"/>
              <a:buNone/>
              <a:defRPr sz="3000" b="1" i="0" u="none" strike="noStrike" cap="none">
                <a:solidFill>
                  <a:srgbClr val="122037"/>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8"/>
          <p:cNvSpPr txBox="1">
            <a:spLocks noGrp="1"/>
          </p:cNvSpPr>
          <p:nvPr>
            <p:ph type="body" idx="1"/>
          </p:nvPr>
        </p:nvSpPr>
        <p:spPr>
          <a:xfrm>
            <a:off x="515940" y="1756228"/>
            <a:ext cx="11160125" cy="4193722"/>
          </a:xfrm>
          <a:prstGeom prst="rect">
            <a:avLst/>
          </a:prstGeom>
          <a:noFill/>
          <a:ln>
            <a:noFill/>
          </a:ln>
        </p:spPr>
        <p:txBody>
          <a:bodyPr spcFirstLastPara="1" wrap="square" lIns="91425" tIns="45700" rIns="91425" bIns="45700" anchor="t" anchorCtr="0">
            <a:noAutofit/>
          </a:bodyPr>
          <a:lstStyle>
            <a:lvl1pPr marL="457200" marR="0" lvl="0" indent="-365760" algn="l" rtl="0">
              <a:lnSpc>
                <a:spcPct val="90000"/>
              </a:lnSpc>
              <a:spcBef>
                <a:spcPts val="1000"/>
              </a:spcBef>
              <a:spcAft>
                <a:spcPts val="0"/>
              </a:spcAft>
              <a:buClr>
                <a:srgbClr val="136282"/>
              </a:buClr>
              <a:buSzPts val="2160"/>
              <a:buFont typeface="Arial"/>
              <a:buChar char="•"/>
              <a:defRPr sz="1800" b="0" i="0" u="none" strike="noStrike" cap="none">
                <a:solidFill>
                  <a:srgbClr val="136282"/>
                </a:solidFill>
                <a:latin typeface="Arial"/>
                <a:ea typeface="Arial"/>
                <a:cs typeface="Arial"/>
                <a:sym typeface="Arial"/>
              </a:defRPr>
            </a:lvl1pPr>
            <a:lvl2pPr marL="914400" marR="0" lvl="1" indent="-320040" algn="l" rtl="0">
              <a:lnSpc>
                <a:spcPct val="90000"/>
              </a:lnSpc>
              <a:spcBef>
                <a:spcPts val="500"/>
              </a:spcBef>
              <a:spcAft>
                <a:spcPts val="0"/>
              </a:spcAft>
              <a:buClr>
                <a:srgbClr val="136282"/>
              </a:buClr>
              <a:buSzPts val="1440"/>
              <a:buFont typeface="Courier New"/>
              <a:buChar char="o"/>
              <a:defRPr sz="1800" b="0" i="0" u="none" strike="noStrike" cap="none">
                <a:solidFill>
                  <a:srgbClr val="136282"/>
                </a:solidFill>
                <a:latin typeface="Arial"/>
                <a:ea typeface="Arial"/>
                <a:cs typeface="Arial"/>
                <a:sym typeface="Arial"/>
              </a:defRPr>
            </a:lvl2pPr>
            <a:lvl3pPr marL="1371600" marR="0" lvl="2" indent="-342900" algn="l" rtl="0">
              <a:lnSpc>
                <a:spcPct val="90000"/>
              </a:lnSpc>
              <a:spcBef>
                <a:spcPts val="500"/>
              </a:spcBef>
              <a:spcAft>
                <a:spcPts val="0"/>
              </a:spcAft>
              <a:buClr>
                <a:srgbClr val="136282"/>
              </a:buClr>
              <a:buSzPts val="1800"/>
              <a:buFont typeface="Noto Sans Symbols"/>
              <a:buChar char="▪"/>
              <a:defRPr sz="1800" b="0" i="0" u="none" strike="noStrike" cap="none">
                <a:solidFill>
                  <a:srgbClr val="136282"/>
                </a:solidFill>
                <a:latin typeface="Arial"/>
                <a:ea typeface="Arial"/>
                <a:cs typeface="Arial"/>
                <a:sym typeface="Arial"/>
              </a:defRPr>
            </a:lvl3pPr>
            <a:lvl4pPr marL="1828800" marR="0" lvl="3" indent="-342900" algn="l" rtl="0">
              <a:lnSpc>
                <a:spcPct val="90000"/>
              </a:lnSpc>
              <a:spcBef>
                <a:spcPts val="500"/>
              </a:spcBef>
              <a:spcAft>
                <a:spcPts val="0"/>
              </a:spcAft>
              <a:buClr>
                <a:srgbClr val="136282"/>
              </a:buClr>
              <a:buSzPts val="1800"/>
              <a:buFont typeface="Noto Sans Symbols"/>
              <a:buChar char="▪"/>
              <a:defRPr sz="1800" b="0" i="0" u="none" strike="noStrike" cap="none">
                <a:solidFill>
                  <a:srgbClr val="136282"/>
                </a:solidFill>
                <a:latin typeface="Arial"/>
                <a:ea typeface="Arial"/>
                <a:cs typeface="Arial"/>
                <a:sym typeface="Arial"/>
              </a:defRPr>
            </a:lvl4pPr>
            <a:lvl5pPr marL="2286000" marR="0" lvl="4" indent="-342900" algn="l" rtl="0">
              <a:lnSpc>
                <a:spcPct val="90000"/>
              </a:lnSpc>
              <a:spcBef>
                <a:spcPts val="500"/>
              </a:spcBef>
              <a:spcAft>
                <a:spcPts val="0"/>
              </a:spcAft>
              <a:buClr>
                <a:srgbClr val="136282"/>
              </a:buClr>
              <a:buSzPts val="1800"/>
              <a:buFont typeface="Arial"/>
              <a:buChar char="•"/>
              <a:defRPr sz="1800" b="0" i="0" u="none" strike="noStrike" cap="none">
                <a:solidFill>
                  <a:srgbClr val="13628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5" name="Google Shape;75;p8"/>
          <p:cNvSpPr txBox="1"/>
          <p:nvPr/>
        </p:nvSpPr>
        <p:spPr>
          <a:xfrm>
            <a:off x="11115677" y="6201644"/>
            <a:ext cx="574675" cy="32316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500">
                <a:solidFill>
                  <a:srgbClr val="136282"/>
                </a:solidFill>
                <a:latin typeface="Arial"/>
                <a:ea typeface="Arial"/>
                <a:cs typeface="Arial"/>
                <a:sym typeface="Arial"/>
              </a:rPr>
              <a:t>‹#›</a:t>
            </a:fld>
            <a:endParaRPr sz="1500">
              <a:solidFill>
                <a:srgbClr val="136282"/>
              </a:solidFill>
              <a:latin typeface="Arial"/>
              <a:ea typeface="Arial"/>
              <a:cs typeface="Arial"/>
              <a:sym typeface="Arial"/>
            </a:endParaRPr>
          </a:p>
        </p:txBody>
      </p:sp>
    </p:spTree>
    <p:extLst>
      <p:ext uri="{BB962C8B-B14F-4D97-AF65-F5344CB8AC3E}">
        <p14:creationId xmlns:p14="http://schemas.microsoft.com/office/powerpoint/2010/main" val="266182189"/>
      </p:ext>
    </p:extLst>
  </p:cSld>
  <p:clrMapOvr>
    <a:masterClrMapping/>
  </p:clrMapOvr>
  <p:extLst>
    <p:ext uri="{DCECCB84-F9BA-43D5-87BE-67443E8EF086}">
      <p15:sldGuideLst xmlns:p15="http://schemas.microsoft.com/office/powerpoint/2012/main">
        <p15:guide id="1" pos="325">
          <p15:clr>
            <a:srgbClr val="FBAE40"/>
          </p15:clr>
        </p15:guide>
        <p15:guide id="2" orient="horz" pos="346">
          <p15:clr>
            <a:srgbClr val="FBAE40"/>
          </p15:clr>
        </p15:guide>
        <p15:guide id="3" pos="7355">
          <p15:clr>
            <a:srgbClr val="FBAE40"/>
          </p15:clr>
        </p15:guide>
        <p15:guide id="4" orient="horz" pos="374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5D6221-4853-2D40-B591-ECF55C3748E1}" type="datetimeFigureOut">
              <a:rPr lang="en-US" smtClean="0"/>
              <a:t>6/27/2025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63D51D-53A8-2449-9FDA-CB2443F42A29}" type="slidenum">
              <a:rPr lang="en-US" smtClean="0"/>
              <a:t>‹#›</a:t>
            </a:fld>
            <a:endParaRPr lang="en-US"/>
          </a:p>
        </p:txBody>
      </p:sp>
    </p:spTree>
    <p:extLst>
      <p:ext uri="{BB962C8B-B14F-4D97-AF65-F5344CB8AC3E}">
        <p14:creationId xmlns:p14="http://schemas.microsoft.com/office/powerpoint/2010/main" val="665527668"/>
      </p:ext>
    </p:extLst>
  </p:cSld>
  <p:clrMap bg1="lt1" tx1="dk1" bg2="lt2" tx2="dk2" accent1="accent1" accent2="accent2" accent3="accent3" accent4="accent4" accent5="accent5" accent6="accent6" hlink="hlink" folHlink="folHlink"/>
  <p:sldLayoutIdLst>
    <p:sldLayoutId id="2147483665" r:id="rId1"/>
    <p:sldLayoutId id="2147483664" r:id="rId2"/>
    <p:sldLayoutId id="2147483651" r:id="rId3"/>
    <p:sldLayoutId id="2147483652" r:id="rId4"/>
    <p:sldLayoutId id="2147483653" r:id="rId5"/>
    <p:sldLayoutId id="2147483666" r:id="rId6"/>
    <p:sldLayoutId id="2147483669" r:id="rId7"/>
    <p:sldLayoutId id="2147483656" r:id="rId8"/>
    <p:sldLayoutId id="2147483657" r:id="rId9"/>
    <p:sldLayoutId id="2147483658" r:id="rId10"/>
    <p:sldLayoutId id="2147483659" r:id="rId11"/>
    <p:sldLayoutId id="2147483667"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microsoft.com/office/2007/relationships/hdphoto" Target="../media/hdphoto5.wdp"/><Relationship Id="rId13"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5.png"/><Relationship Id="rId12" Type="http://schemas.microsoft.com/office/2007/relationships/hdphoto" Target="../media/hdphoto6.wdp"/><Relationship Id="rId2" Type="http://schemas.openxmlformats.org/officeDocument/2006/relationships/notesSlide" Target="../notesSlides/notesSlide1.xml"/><Relationship Id="rId16" Type="http://schemas.openxmlformats.org/officeDocument/2006/relationships/image" Target="../media/image21.png"/><Relationship Id="rId1" Type="http://schemas.openxmlformats.org/officeDocument/2006/relationships/slideLayout" Target="../slideLayouts/slideLayout1.xml"/><Relationship Id="rId6" Type="http://schemas.microsoft.com/office/2007/relationships/hdphoto" Target="../media/hdphoto3.wdp"/><Relationship Id="rId11" Type="http://schemas.openxmlformats.org/officeDocument/2006/relationships/image" Target="../media/image18.png"/><Relationship Id="rId5" Type="http://schemas.openxmlformats.org/officeDocument/2006/relationships/image" Target="../media/image9.png"/><Relationship Id="rId1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8.png"/><Relationship Id="rId9" Type="http://schemas.openxmlformats.org/officeDocument/2006/relationships/image" Target="../media/image16.png"/><Relationship Id="rId14"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2BF3945-CD41-62E5-5999-8CE9518DA0CF}"/>
              </a:ext>
            </a:extLst>
          </p:cNvPr>
          <p:cNvSpPr/>
          <p:nvPr/>
        </p:nvSpPr>
        <p:spPr>
          <a:xfrm>
            <a:off x="0" y="1185322"/>
            <a:ext cx="12192000" cy="4505223"/>
          </a:xfrm>
          <a:prstGeom prst="rect">
            <a:avLst/>
          </a:prstGeom>
          <a:solidFill>
            <a:srgbClr val="0D1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pic>
        <p:nvPicPr>
          <p:cNvPr id="5" name="Picture 4">
            <a:extLst>
              <a:ext uri="{FF2B5EF4-FFF2-40B4-BE49-F238E27FC236}">
                <a16:creationId xmlns:a16="http://schemas.microsoft.com/office/drawing/2014/main" id="{D7F52AA5-382C-BD3B-233D-C8BA2507174F}"/>
              </a:ext>
            </a:extLst>
          </p:cNvPr>
          <p:cNvPicPr>
            <a:picLocks noChangeAspect="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695400" y="5916136"/>
            <a:ext cx="2109792" cy="640080"/>
          </a:xfrm>
          <a:prstGeom prst="rect">
            <a:avLst/>
          </a:prstGeom>
          <a:noFill/>
        </p:spPr>
      </p:pic>
      <p:grpSp>
        <p:nvGrpSpPr>
          <p:cNvPr id="12" name="Group 11">
            <a:extLst>
              <a:ext uri="{FF2B5EF4-FFF2-40B4-BE49-F238E27FC236}">
                <a16:creationId xmlns:a16="http://schemas.microsoft.com/office/drawing/2014/main" id="{9348EC2C-B342-307A-9169-A2BE1772242B}"/>
              </a:ext>
            </a:extLst>
          </p:cNvPr>
          <p:cNvGrpSpPr>
            <a:grpSpLocks noChangeAspect="1"/>
          </p:cNvGrpSpPr>
          <p:nvPr/>
        </p:nvGrpSpPr>
        <p:grpSpPr>
          <a:xfrm>
            <a:off x="9162895" y="279471"/>
            <a:ext cx="2419505" cy="640080"/>
            <a:chOff x="8184232" y="6113391"/>
            <a:chExt cx="2128241" cy="563026"/>
          </a:xfrm>
        </p:grpSpPr>
        <p:pic>
          <p:nvPicPr>
            <p:cNvPr id="3" name="Picture 2">
              <a:extLst>
                <a:ext uri="{FF2B5EF4-FFF2-40B4-BE49-F238E27FC236}">
                  <a16:creationId xmlns:a16="http://schemas.microsoft.com/office/drawing/2014/main" id="{1BD74A3C-5BB7-0B94-95D9-E7D7520B4AFF}"/>
                </a:ext>
              </a:extLst>
            </p:cNvPr>
            <p:cNvPicPr>
              <a:picLocks noChangeAspect="1"/>
            </p:cNvPicPr>
            <p:nvPr/>
          </p:nvPicPr>
          <p:blipFill rotWithShape="1">
            <a:blip r:embed="rId4">
              <a:duotone>
                <a:schemeClr val="accent5">
                  <a:shade val="45000"/>
                  <a:satMod val="135000"/>
                </a:schemeClr>
                <a:prstClr val="white"/>
              </a:duotone>
            </a:blip>
            <a:srcRect r="71446"/>
            <a:stretch/>
          </p:blipFill>
          <p:spPr>
            <a:xfrm>
              <a:off x="8184232" y="6113391"/>
              <a:ext cx="607689" cy="563026"/>
            </a:xfrm>
            <a:prstGeom prst="rect">
              <a:avLst/>
            </a:prstGeom>
          </p:spPr>
        </p:pic>
        <p:pic>
          <p:nvPicPr>
            <p:cNvPr id="11" name="Picture 10">
              <a:extLst>
                <a:ext uri="{FF2B5EF4-FFF2-40B4-BE49-F238E27FC236}">
                  <a16:creationId xmlns:a16="http://schemas.microsoft.com/office/drawing/2014/main" id="{E52C7D38-C898-9EEE-380A-D7D871CA1A4E}"/>
                </a:ext>
              </a:extLst>
            </p:cNvPr>
            <p:cNvPicPr>
              <a:picLocks noChangeAspect="1"/>
            </p:cNvPicPr>
            <p:nvPr/>
          </p:nvPicPr>
          <p:blipFill rotWithShape="1">
            <a:blip r:embed="rId5">
              <a:lum bright="70000" contrast="-70000"/>
              <a:extLst>
                <a:ext uri="{BEBA8EAE-BF5A-486C-A8C5-ECC9F3942E4B}">
                  <a14:imgProps xmlns:a14="http://schemas.microsoft.com/office/drawing/2010/main">
                    <a14:imgLayer r:embed="rId6">
                      <a14:imgEffect>
                        <a14:artisticPhotocopy/>
                      </a14:imgEffect>
                    </a14:imgLayer>
                  </a14:imgProps>
                </a:ext>
              </a:extLst>
            </a:blip>
            <a:srcRect l="28554"/>
            <a:stretch/>
          </p:blipFill>
          <p:spPr>
            <a:xfrm>
              <a:off x="8791921" y="6113391"/>
              <a:ext cx="1520552" cy="563026"/>
            </a:xfrm>
            <a:prstGeom prst="rect">
              <a:avLst/>
            </a:prstGeom>
          </p:spPr>
        </p:pic>
      </p:grpSp>
      <p:pic>
        <p:nvPicPr>
          <p:cNvPr id="1028" name="Picture 4" descr="Member Categories EMS Associate Members : European Meteorological Society">
            <a:extLst>
              <a:ext uri="{FF2B5EF4-FFF2-40B4-BE49-F238E27FC236}">
                <a16:creationId xmlns:a16="http://schemas.microsoft.com/office/drawing/2014/main" id="{B43B156C-68B2-463C-F396-181BC07D40AB}"/>
              </a:ext>
            </a:extLst>
          </p:cNvPr>
          <p:cNvPicPr>
            <a:picLocks noChangeAspect="1" noChangeArrowheads="1"/>
          </p:cNvPicPr>
          <p:nvPr/>
        </p:nvPicPr>
        <p:blipFill>
          <a:blip r:embed="rId7">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3518546" y="5735068"/>
            <a:ext cx="2324306" cy="100584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7794A0F2-F6BD-DF21-09DD-B1249595BE89}"/>
              </a:ext>
            </a:extLst>
          </p:cNvPr>
          <p:cNvPicPr>
            <a:picLocks/>
          </p:cNvPicPr>
          <p:nvPr/>
        </p:nvPicPr>
        <p:blipFill>
          <a:blip r:embed="rId9" cstate="screen">
            <a:extLst>
              <a:ext uri="{28A0092B-C50C-407E-A947-70E740481C1C}">
                <a14:useLocalDpi xmlns:a14="http://schemas.microsoft.com/office/drawing/2010/main"/>
              </a:ext>
            </a:extLst>
          </a:blip>
          <a:stretch>
            <a:fillRect/>
          </a:stretch>
        </p:blipFill>
        <p:spPr>
          <a:xfrm>
            <a:off x="2192853" y="312571"/>
            <a:ext cx="3756184" cy="618173"/>
          </a:xfrm>
          <a:prstGeom prst="rect">
            <a:avLst/>
          </a:prstGeom>
        </p:spPr>
      </p:pic>
      <p:pic>
        <p:nvPicPr>
          <p:cNvPr id="14" name="Picture 13" descr="A picture containing gear, wheel, clipart&#10;&#10;Description automatically generated">
            <a:extLst>
              <a:ext uri="{FF2B5EF4-FFF2-40B4-BE49-F238E27FC236}">
                <a16:creationId xmlns:a16="http://schemas.microsoft.com/office/drawing/2014/main" id="{72EA8B53-DB5A-DBCC-4766-3849CE4281EB}"/>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603915" y="377953"/>
            <a:ext cx="1904103" cy="457200"/>
          </a:xfrm>
          <a:prstGeom prst="rect">
            <a:avLst/>
          </a:prstGeom>
        </p:spPr>
      </p:pic>
      <p:pic>
        <p:nvPicPr>
          <p:cNvPr id="1032" name="Picture 8" descr="Magnetometer data – Avaruussääkeskus">
            <a:extLst>
              <a:ext uri="{FF2B5EF4-FFF2-40B4-BE49-F238E27FC236}">
                <a16:creationId xmlns:a16="http://schemas.microsoft.com/office/drawing/2014/main" id="{82E81436-83F8-931D-CB40-AF0FE69AEDB4}"/>
              </a:ext>
            </a:extLst>
          </p:cNvPr>
          <p:cNvPicPr>
            <a:picLocks noChangeAspect="1" noChangeArrowheads="1"/>
          </p:cNvPicPr>
          <p:nvPr/>
        </p:nvPicPr>
        <p:blipFill>
          <a:blip r:embed="rId11">
            <a:lum bright="70000" contrast="-70000"/>
            <a:extLst>
              <a:ext uri="{BEBA8EAE-BF5A-486C-A8C5-ECC9F3942E4B}">
                <a14:imgProps xmlns:a14="http://schemas.microsoft.com/office/drawing/2010/main">
                  <a14:imgLayer r:embed="rId12">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6556206" y="5916136"/>
            <a:ext cx="3450866" cy="64008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80EB791B-6546-FFAC-50C7-E6E2A73F33AA}"/>
              </a:ext>
            </a:extLst>
          </p:cNvPr>
          <p:cNvSpPr txBox="1"/>
          <p:nvPr/>
        </p:nvSpPr>
        <p:spPr>
          <a:xfrm>
            <a:off x="10516815" y="5405854"/>
            <a:ext cx="1527982" cy="246221"/>
          </a:xfrm>
          <a:prstGeom prst="rect">
            <a:avLst/>
          </a:prstGeom>
          <a:noFill/>
        </p:spPr>
        <p:txBody>
          <a:bodyPr wrap="none" rtlCol="0">
            <a:spAutoFit/>
          </a:bodyPr>
          <a:lstStyle/>
          <a:p>
            <a:r>
              <a:rPr lang="en-US" sz="1000" dirty="0"/>
              <a:t>Photo: Andreas Cziferszky</a:t>
            </a:r>
            <a:endParaRPr lang="en-CA" sz="1000" dirty="0"/>
          </a:p>
        </p:txBody>
      </p:sp>
      <p:grpSp>
        <p:nvGrpSpPr>
          <p:cNvPr id="18" name="Group 17">
            <a:extLst>
              <a:ext uri="{FF2B5EF4-FFF2-40B4-BE49-F238E27FC236}">
                <a16:creationId xmlns:a16="http://schemas.microsoft.com/office/drawing/2014/main" id="{DF860CDE-517F-5519-C12D-6B453DE63DCD}"/>
              </a:ext>
            </a:extLst>
          </p:cNvPr>
          <p:cNvGrpSpPr/>
          <p:nvPr/>
        </p:nvGrpSpPr>
        <p:grpSpPr>
          <a:xfrm>
            <a:off x="10720425" y="5793478"/>
            <a:ext cx="776175" cy="1011272"/>
            <a:chOff x="11368497" y="5813478"/>
            <a:chExt cx="776175" cy="1011272"/>
          </a:xfrm>
        </p:grpSpPr>
        <p:sp>
          <p:nvSpPr>
            <p:cNvPr id="9" name="TextBox 8">
              <a:extLst>
                <a:ext uri="{FF2B5EF4-FFF2-40B4-BE49-F238E27FC236}">
                  <a16:creationId xmlns:a16="http://schemas.microsoft.com/office/drawing/2014/main" id="{5AA26598-9842-5A55-BB93-F91E87FAC6BC}"/>
                </a:ext>
              </a:extLst>
            </p:cNvPr>
            <p:cNvSpPr txBox="1"/>
            <p:nvPr/>
          </p:nvSpPr>
          <p:spPr>
            <a:xfrm>
              <a:off x="11368497" y="6516973"/>
              <a:ext cx="776175" cy="307777"/>
            </a:xfrm>
            <a:prstGeom prst="rect">
              <a:avLst/>
            </a:prstGeom>
            <a:noFill/>
          </p:spPr>
          <p:txBody>
            <a:bodyPr wrap="none" rtlCol="0">
              <a:spAutoFit/>
            </a:bodyPr>
            <a:lstStyle/>
            <a:p>
              <a:pPr algn="ctr"/>
              <a:r>
                <a:rPr lang="en-US" sz="700" dirty="0">
                  <a:solidFill>
                    <a:schemeClr val="bg1"/>
                  </a:solidFill>
                </a:rPr>
                <a:t>Funded by the</a:t>
              </a:r>
            </a:p>
            <a:p>
              <a:pPr algn="ctr"/>
              <a:r>
                <a:rPr lang="en-US" sz="700" dirty="0">
                  <a:solidFill>
                    <a:schemeClr val="bg1"/>
                  </a:solidFill>
                </a:rPr>
                <a:t>European Union</a:t>
              </a:r>
              <a:endParaRPr lang="en-CA" sz="700" dirty="0">
                <a:solidFill>
                  <a:schemeClr val="bg1"/>
                </a:solidFill>
              </a:endParaRPr>
            </a:p>
          </p:txBody>
        </p:sp>
        <p:pic>
          <p:nvPicPr>
            <p:cNvPr id="10" name="Picture 4" descr="EU European Union Flag Icon | Public Domain World Flags Iconpack |  Wikipedia Authors">
              <a:extLst>
                <a:ext uri="{FF2B5EF4-FFF2-40B4-BE49-F238E27FC236}">
                  <a16:creationId xmlns:a16="http://schemas.microsoft.com/office/drawing/2014/main" id="{366D7A62-D07E-2368-7A51-AD693A221DD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482264" y="6092825"/>
              <a:ext cx="54864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0F1DE55-0757-B622-7114-6AC10D59C50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413684" y="5813478"/>
              <a:ext cx="685800" cy="249942"/>
            </a:xfrm>
            <a:prstGeom prst="rect">
              <a:avLst/>
            </a:prstGeom>
            <a:noFill/>
            <a:extLst>
              <a:ext uri="{909E8E84-426E-40DD-AFC4-6F175D3DCCD1}">
                <a14:hiddenFill xmlns:a14="http://schemas.microsoft.com/office/drawing/2010/main">
                  <a:solidFill>
                    <a:srgbClr val="FFFFFF"/>
                  </a:solidFill>
                </a14:hiddenFill>
              </a:ext>
            </a:extLst>
          </p:spPr>
        </p:pic>
      </p:grpSp>
      <p:pic>
        <p:nvPicPr>
          <p:cNvPr id="8" name="Picture 7" descr="A logo with different colored arrows&#10;&#10;Description automatically generated">
            <a:extLst>
              <a:ext uri="{FF2B5EF4-FFF2-40B4-BE49-F238E27FC236}">
                <a16:creationId xmlns:a16="http://schemas.microsoft.com/office/drawing/2014/main" id="{0E6403B4-8282-92AA-4B90-8E9D98ED9632}"/>
              </a:ext>
            </a:extLst>
          </p:cNvPr>
          <p:cNvPicPr>
            <a:picLocks noChangeAspect="1"/>
          </p:cNvPicPr>
          <p:nvPr/>
        </p:nvPicPr>
        <p:blipFill>
          <a:blip r:embed="rId15"/>
          <a:stretch>
            <a:fillRect/>
          </a:stretch>
        </p:blipFill>
        <p:spPr>
          <a:xfrm>
            <a:off x="611845" y="134133"/>
            <a:ext cx="835713" cy="900000"/>
          </a:xfrm>
          <a:prstGeom prst="rect">
            <a:avLst/>
          </a:prstGeom>
        </p:spPr>
      </p:pic>
      <p:pic>
        <p:nvPicPr>
          <p:cNvPr id="17" name="Picture 16">
            <a:extLst>
              <a:ext uri="{FF2B5EF4-FFF2-40B4-BE49-F238E27FC236}">
                <a16:creationId xmlns:a16="http://schemas.microsoft.com/office/drawing/2014/main" id="{CBEB17F4-8B8A-77FB-F0BD-9DF50CEDBB89}"/>
              </a:ext>
            </a:extLst>
          </p:cNvPr>
          <p:cNvPicPr>
            <a:picLocks noChangeAspect="1"/>
          </p:cNvPicPr>
          <p:nvPr/>
        </p:nvPicPr>
        <p:blipFill>
          <a:blip r:embed="rId16"/>
          <a:srcRect t="10326" r="978" b="-235"/>
          <a:stretch>
            <a:fillRect/>
          </a:stretch>
        </p:blipFill>
        <p:spPr>
          <a:xfrm>
            <a:off x="1487488" y="1185322"/>
            <a:ext cx="9192345" cy="4511276"/>
          </a:xfrm>
          <a:prstGeom prst="rect">
            <a:avLst/>
          </a:prstGeom>
        </p:spPr>
      </p:pic>
    </p:spTree>
    <p:extLst>
      <p:ext uri="{BB962C8B-B14F-4D97-AF65-F5344CB8AC3E}">
        <p14:creationId xmlns:p14="http://schemas.microsoft.com/office/powerpoint/2010/main" val="2594545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311204-4E85-6F62-DD53-36039DCFF52E}"/>
              </a:ext>
            </a:extLst>
          </p:cNvPr>
          <p:cNvSpPr>
            <a:spLocks noGrp="1"/>
          </p:cNvSpPr>
          <p:nvPr>
            <p:ph type="title"/>
          </p:nvPr>
        </p:nvSpPr>
        <p:spPr/>
        <p:txBody>
          <a:bodyPr/>
          <a:lstStyle/>
          <a:p>
            <a:r>
              <a:rPr lang="en-CA" dirty="0"/>
              <a:t>DESIDE Purpose</a:t>
            </a:r>
          </a:p>
        </p:txBody>
      </p:sp>
      <p:sp>
        <p:nvSpPr>
          <p:cNvPr id="5" name="Content Placeholder 4">
            <a:extLst>
              <a:ext uri="{FF2B5EF4-FFF2-40B4-BE49-F238E27FC236}">
                <a16:creationId xmlns:a16="http://schemas.microsoft.com/office/drawing/2014/main" id="{EAAAFE5A-AB8C-778C-F4CE-F2AD70597BA8}"/>
              </a:ext>
            </a:extLst>
          </p:cNvPr>
          <p:cNvSpPr>
            <a:spLocks noGrp="1"/>
          </p:cNvSpPr>
          <p:nvPr>
            <p:ph idx="1"/>
          </p:nvPr>
        </p:nvSpPr>
        <p:spPr/>
        <p:txBody>
          <a:bodyPr/>
          <a:lstStyle/>
          <a:p>
            <a:r>
              <a:rPr lang="en-US" dirty="0"/>
              <a:t>Ships operating in the polar regions encounter </a:t>
            </a:r>
            <a:r>
              <a:rPr lang="en-US" dirty="0">
                <a:solidFill>
                  <a:schemeClr val="accent6"/>
                </a:solidFill>
              </a:rPr>
              <a:t>hazards</a:t>
            </a:r>
            <a:r>
              <a:rPr lang="en-US" dirty="0"/>
              <a:t> that present elevated levels of </a:t>
            </a:r>
            <a:r>
              <a:rPr lang="en-US" dirty="0">
                <a:solidFill>
                  <a:schemeClr val="accent6"/>
                </a:solidFill>
              </a:rPr>
              <a:t>risk</a:t>
            </a:r>
            <a:r>
              <a:rPr lang="en-US" dirty="0"/>
              <a:t> and more severe </a:t>
            </a:r>
            <a:r>
              <a:rPr lang="en-US" dirty="0">
                <a:solidFill>
                  <a:schemeClr val="accent6"/>
                </a:solidFill>
              </a:rPr>
              <a:t>consequences</a:t>
            </a:r>
            <a:r>
              <a:rPr lang="en-US" dirty="0"/>
              <a:t> when accidents occur. </a:t>
            </a:r>
          </a:p>
          <a:p>
            <a:r>
              <a:rPr lang="en-US" dirty="0"/>
              <a:t>Destination Earth Sea Ice Decision Enhancement (</a:t>
            </a:r>
            <a:r>
              <a:rPr lang="en-US" dirty="0">
                <a:solidFill>
                  <a:schemeClr val="accent6"/>
                </a:solidFill>
              </a:rPr>
              <a:t>DESIDE</a:t>
            </a:r>
            <a:r>
              <a:rPr lang="en-US" dirty="0"/>
              <a:t>) utilizes </a:t>
            </a:r>
            <a:r>
              <a:rPr lang="en-US" dirty="0">
                <a:solidFill>
                  <a:schemeClr val="accent6"/>
                </a:solidFill>
              </a:rPr>
              <a:t>Destination Earth </a:t>
            </a:r>
            <a:r>
              <a:rPr lang="en-US" dirty="0"/>
              <a:t>system capabilities and data to provide comprehensive </a:t>
            </a:r>
            <a:r>
              <a:rPr lang="en-US" dirty="0">
                <a:solidFill>
                  <a:schemeClr val="accent6"/>
                </a:solidFill>
              </a:rPr>
              <a:t>sea ice and related information </a:t>
            </a:r>
            <a:r>
              <a:rPr lang="en-US" dirty="0"/>
              <a:t>for policy and operational decision makers in the Baltic Sea, European Arctic Ocean, and other polar regions.</a:t>
            </a:r>
            <a:endParaRPr lang="en-CA" dirty="0"/>
          </a:p>
        </p:txBody>
      </p:sp>
    </p:spTree>
    <p:extLst>
      <p:ext uri="{BB962C8B-B14F-4D97-AF65-F5344CB8AC3E}">
        <p14:creationId xmlns:p14="http://schemas.microsoft.com/office/powerpoint/2010/main" val="1179022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0C97-0725-832B-AD65-1C204EC616C2}"/>
              </a:ext>
            </a:extLst>
          </p:cNvPr>
          <p:cNvSpPr>
            <a:spLocks noGrp="1"/>
          </p:cNvSpPr>
          <p:nvPr>
            <p:ph type="title"/>
          </p:nvPr>
        </p:nvSpPr>
        <p:spPr/>
        <p:txBody>
          <a:bodyPr/>
          <a:lstStyle/>
          <a:p>
            <a:r>
              <a:rPr lang="en-CA" dirty="0"/>
              <a:t>DESIDE Drivers</a:t>
            </a:r>
          </a:p>
        </p:txBody>
      </p:sp>
      <p:sp>
        <p:nvSpPr>
          <p:cNvPr id="3" name="Content Placeholder 2">
            <a:extLst>
              <a:ext uri="{FF2B5EF4-FFF2-40B4-BE49-F238E27FC236}">
                <a16:creationId xmlns:a16="http://schemas.microsoft.com/office/drawing/2014/main" id="{B022A0FA-DE80-EC8D-0210-3A242922E7E1}"/>
              </a:ext>
            </a:extLst>
          </p:cNvPr>
          <p:cNvSpPr>
            <a:spLocks noGrp="1"/>
          </p:cNvSpPr>
          <p:nvPr>
            <p:ph idx="1"/>
          </p:nvPr>
        </p:nvSpPr>
        <p:spPr/>
        <p:txBody>
          <a:bodyPr/>
          <a:lstStyle/>
          <a:p>
            <a:pPr marL="0" indent="0">
              <a:buNone/>
            </a:pPr>
            <a:r>
              <a:rPr lang="en-US" dirty="0"/>
              <a:t>The DESIDE drivers are:  </a:t>
            </a:r>
          </a:p>
          <a:p>
            <a:r>
              <a:rPr lang="en-US" dirty="0">
                <a:solidFill>
                  <a:schemeClr val="accent6"/>
                </a:solidFill>
              </a:rPr>
              <a:t>Regulatory Compliance </a:t>
            </a:r>
            <a:r>
              <a:rPr lang="en-US" dirty="0"/>
              <a:t>- Deliver short and medium-term forecasts of ice, meteorological, and ocean conditions, meeting the requirements of the IMO Polar Code.  </a:t>
            </a:r>
          </a:p>
          <a:p>
            <a:r>
              <a:rPr lang="en-US" dirty="0">
                <a:solidFill>
                  <a:schemeClr val="accent6"/>
                </a:solidFill>
              </a:rPr>
              <a:t>Climate Change Effects </a:t>
            </a:r>
            <a:r>
              <a:rPr lang="en-US" dirty="0"/>
              <a:t>- Provide long-term forecasts on changing ice and other conditions, enabling planning and policy development for the fishing, tourism, research, and oil and gas industries.</a:t>
            </a:r>
            <a:endParaRPr lang="en-CA" dirty="0"/>
          </a:p>
        </p:txBody>
      </p:sp>
    </p:spTree>
    <p:extLst>
      <p:ext uri="{BB962C8B-B14F-4D97-AF65-F5344CB8AC3E}">
        <p14:creationId xmlns:p14="http://schemas.microsoft.com/office/powerpoint/2010/main" val="752406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5EEEA-DA11-6FCA-53A1-D817428AED2B}"/>
              </a:ext>
            </a:extLst>
          </p:cNvPr>
          <p:cNvSpPr>
            <a:spLocks noGrp="1"/>
          </p:cNvSpPr>
          <p:nvPr>
            <p:ph type="title"/>
          </p:nvPr>
        </p:nvSpPr>
        <p:spPr/>
        <p:txBody>
          <a:bodyPr/>
          <a:lstStyle/>
          <a:p>
            <a:r>
              <a:rPr lang="en-CA" dirty="0"/>
              <a:t>DESIDE Objectives</a:t>
            </a:r>
          </a:p>
        </p:txBody>
      </p:sp>
      <p:sp>
        <p:nvSpPr>
          <p:cNvPr id="3" name="Content Placeholder 2">
            <a:extLst>
              <a:ext uri="{FF2B5EF4-FFF2-40B4-BE49-F238E27FC236}">
                <a16:creationId xmlns:a16="http://schemas.microsoft.com/office/drawing/2014/main" id="{52A7EE27-A7C8-A6E1-B9AD-AF29094C88CE}"/>
              </a:ext>
            </a:extLst>
          </p:cNvPr>
          <p:cNvSpPr>
            <a:spLocks noGrp="1"/>
          </p:cNvSpPr>
          <p:nvPr>
            <p:ph idx="1"/>
          </p:nvPr>
        </p:nvSpPr>
        <p:spPr/>
        <p:txBody>
          <a:bodyPr/>
          <a:lstStyle/>
          <a:p>
            <a:pPr marL="0" indent="0">
              <a:buNone/>
            </a:pPr>
            <a:r>
              <a:rPr lang="en-US" dirty="0"/>
              <a:t>The DESIDE objectives are:  </a:t>
            </a:r>
          </a:p>
          <a:p>
            <a:r>
              <a:rPr lang="en-US" dirty="0">
                <a:solidFill>
                  <a:schemeClr val="accent6"/>
                </a:solidFill>
              </a:rPr>
              <a:t>Aggregating diverse information sources </a:t>
            </a:r>
            <a:r>
              <a:rPr lang="en-US" dirty="0"/>
              <a:t>to provide common products across jurisdictional boundaries.  </a:t>
            </a:r>
          </a:p>
          <a:p>
            <a:r>
              <a:rPr lang="en-US" dirty="0">
                <a:solidFill>
                  <a:schemeClr val="accent6"/>
                </a:solidFill>
              </a:rPr>
              <a:t>Producing new forecast products </a:t>
            </a:r>
            <a:r>
              <a:rPr lang="en-US" dirty="0"/>
              <a:t>to improve decision-making by users.  </a:t>
            </a:r>
          </a:p>
          <a:p>
            <a:r>
              <a:rPr lang="en-US" dirty="0">
                <a:solidFill>
                  <a:schemeClr val="accent6"/>
                </a:solidFill>
              </a:rPr>
              <a:t>Customizing delivery of products </a:t>
            </a:r>
            <a:r>
              <a:rPr lang="en-US" dirty="0"/>
              <a:t>to different user communities based on their needs.</a:t>
            </a:r>
            <a:endParaRPr lang="en-CA" dirty="0"/>
          </a:p>
        </p:txBody>
      </p:sp>
    </p:spTree>
    <p:extLst>
      <p:ext uri="{BB962C8B-B14F-4D97-AF65-F5344CB8AC3E}">
        <p14:creationId xmlns:p14="http://schemas.microsoft.com/office/powerpoint/2010/main" val="104440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6D0BF-EEE3-650A-5136-6C7BE9D53220}"/>
              </a:ext>
            </a:extLst>
          </p:cNvPr>
          <p:cNvSpPr>
            <a:spLocks noGrp="1"/>
          </p:cNvSpPr>
          <p:nvPr>
            <p:ph type="title"/>
          </p:nvPr>
        </p:nvSpPr>
        <p:spPr/>
        <p:txBody>
          <a:bodyPr/>
          <a:lstStyle/>
          <a:p>
            <a:r>
              <a:rPr lang="en-CA" dirty="0"/>
              <a:t>DESIDE Benefits</a:t>
            </a:r>
          </a:p>
        </p:txBody>
      </p:sp>
      <p:sp>
        <p:nvSpPr>
          <p:cNvPr id="3" name="Content Placeholder 2">
            <a:extLst>
              <a:ext uri="{FF2B5EF4-FFF2-40B4-BE49-F238E27FC236}">
                <a16:creationId xmlns:a16="http://schemas.microsoft.com/office/drawing/2014/main" id="{81923945-298D-063E-54AA-82614842E490}"/>
              </a:ext>
            </a:extLst>
          </p:cNvPr>
          <p:cNvSpPr>
            <a:spLocks noGrp="1"/>
          </p:cNvSpPr>
          <p:nvPr>
            <p:ph idx="1"/>
          </p:nvPr>
        </p:nvSpPr>
        <p:spPr/>
        <p:txBody>
          <a:bodyPr/>
          <a:lstStyle/>
          <a:p>
            <a:pPr marL="0" indent="0">
              <a:buNone/>
            </a:pPr>
            <a:r>
              <a:rPr lang="en-US" dirty="0"/>
              <a:t>Benefits to polar operations and society include:  </a:t>
            </a:r>
          </a:p>
          <a:p>
            <a:r>
              <a:rPr lang="en-US" dirty="0">
                <a:solidFill>
                  <a:schemeClr val="accent6"/>
                </a:solidFill>
              </a:rPr>
              <a:t>Increased Safety: </a:t>
            </a:r>
            <a:r>
              <a:rPr lang="en-US" dirty="0"/>
              <a:t>Accurate information supports strategic and tactical decision-making, enhancing safety of life and property.  </a:t>
            </a:r>
          </a:p>
          <a:p>
            <a:r>
              <a:rPr lang="en-US" dirty="0">
                <a:solidFill>
                  <a:schemeClr val="accent6"/>
                </a:solidFill>
              </a:rPr>
              <a:t>Pollution Reduction: </a:t>
            </a:r>
            <a:r>
              <a:rPr lang="en-US" dirty="0"/>
              <a:t>Efficient route optimization minimizes fuel consumption and emissions.  </a:t>
            </a:r>
          </a:p>
          <a:p>
            <a:r>
              <a:rPr lang="en-US" dirty="0">
                <a:solidFill>
                  <a:schemeClr val="accent6"/>
                </a:solidFill>
              </a:rPr>
              <a:t>Protection of Sensitive Environmental Areas: </a:t>
            </a:r>
            <a:r>
              <a:rPr lang="en-US" dirty="0"/>
              <a:t>Better forecasts can help policymakers protect environmentally sensitive areas affected by changing polar conditions.</a:t>
            </a:r>
            <a:endParaRPr lang="en-CA" dirty="0"/>
          </a:p>
        </p:txBody>
      </p:sp>
    </p:spTree>
    <p:extLst>
      <p:ext uri="{BB962C8B-B14F-4D97-AF65-F5344CB8AC3E}">
        <p14:creationId xmlns:p14="http://schemas.microsoft.com/office/powerpoint/2010/main" val="3022657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6A174-2665-34D1-D584-F0541C82BF8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3F1210B-EFC7-0BF6-3783-929FD55CFDBC}"/>
              </a:ext>
            </a:extLst>
          </p:cNvPr>
          <p:cNvSpPr>
            <a:spLocks noGrp="1"/>
          </p:cNvSpPr>
          <p:nvPr>
            <p:ph type="title"/>
          </p:nvPr>
        </p:nvSpPr>
        <p:spPr/>
        <p:txBody>
          <a:bodyPr/>
          <a:lstStyle/>
          <a:p>
            <a:r>
              <a:rPr lang="en-CA" dirty="0">
                <a:solidFill>
                  <a:schemeClr val="accent1">
                    <a:lumMod val="75000"/>
                  </a:schemeClr>
                </a:solidFill>
              </a:rPr>
              <a:t> Navigating to the DESIDE Dashboard</a:t>
            </a:r>
          </a:p>
        </p:txBody>
      </p:sp>
      <p:sp>
        <p:nvSpPr>
          <p:cNvPr id="4" name="TextBox 3">
            <a:extLst>
              <a:ext uri="{FF2B5EF4-FFF2-40B4-BE49-F238E27FC236}">
                <a16:creationId xmlns:a16="http://schemas.microsoft.com/office/drawing/2014/main" id="{CA9F64FE-6A5E-4200-4624-9B0191A9664A}"/>
              </a:ext>
            </a:extLst>
          </p:cNvPr>
          <p:cNvSpPr txBox="1"/>
          <p:nvPr/>
        </p:nvSpPr>
        <p:spPr>
          <a:xfrm>
            <a:off x="2102086" y="3484836"/>
            <a:ext cx="7987828" cy="1200329"/>
          </a:xfrm>
          <a:prstGeom prst="rect">
            <a:avLst/>
          </a:prstGeom>
          <a:noFill/>
        </p:spPr>
        <p:txBody>
          <a:bodyPr wrap="none" rtlCol="0">
            <a:spAutoFit/>
          </a:bodyPr>
          <a:lstStyle/>
          <a:p>
            <a:r>
              <a:rPr lang="en-CA" sz="7200" dirty="0">
                <a:solidFill>
                  <a:srgbClr val="FF0000"/>
                </a:solidFill>
              </a:rPr>
              <a:t>deside.polarview.org</a:t>
            </a:r>
          </a:p>
        </p:txBody>
      </p:sp>
    </p:spTree>
    <p:extLst>
      <p:ext uri="{BB962C8B-B14F-4D97-AF65-F5344CB8AC3E}">
        <p14:creationId xmlns:p14="http://schemas.microsoft.com/office/powerpoint/2010/main" val="2537381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7B422-4A5C-E412-101C-22180B3281C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CD43EB1-2A6C-8C7A-EBDF-F578C7ED966E}"/>
              </a:ext>
            </a:extLst>
          </p:cNvPr>
          <p:cNvSpPr>
            <a:spLocks noGrp="1"/>
          </p:cNvSpPr>
          <p:nvPr>
            <p:ph type="title"/>
          </p:nvPr>
        </p:nvSpPr>
        <p:spPr/>
        <p:txBody>
          <a:bodyPr/>
          <a:lstStyle/>
          <a:p>
            <a:r>
              <a:rPr lang="en-CA" dirty="0">
                <a:solidFill>
                  <a:schemeClr val="accent1">
                    <a:lumMod val="75000"/>
                  </a:schemeClr>
                </a:solidFill>
              </a:rPr>
              <a:t>1. Data Visualization and Analysis</a:t>
            </a:r>
          </a:p>
        </p:txBody>
      </p:sp>
      <p:sp>
        <p:nvSpPr>
          <p:cNvPr id="2" name="Text Placeholder 1">
            <a:extLst>
              <a:ext uri="{FF2B5EF4-FFF2-40B4-BE49-F238E27FC236}">
                <a16:creationId xmlns:a16="http://schemas.microsoft.com/office/drawing/2014/main" id="{85128DD0-36DC-1B4B-F14D-5E948325DFEC}"/>
              </a:ext>
            </a:extLst>
          </p:cNvPr>
          <p:cNvSpPr>
            <a:spLocks noGrp="1"/>
          </p:cNvSpPr>
          <p:nvPr>
            <p:ph type="body" idx="13"/>
          </p:nvPr>
        </p:nvSpPr>
        <p:spPr/>
        <p:txBody>
          <a:bodyPr/>
          <a:lstStyle/>
          <a:p>
            <a:r>
              <a:rPr lang="en-US" dirty="0"/>
              <a:t>This capability allows a wide variety of datasets to be visualized and analyzed at different times and regions of interest.</a:t>
            </a:r>
            <a:endParaRPr lang="en-CA" dirty="0"/>
          </a:p>
        </p:txBody>
      </p:sp>
    </p:spTree>
    <p:extLst>
      <p:ext uri="{BB962C8B-B14F-4D97-AF65-F5344CB8AC3E}">
        <p14:creationId xmlns:p14="http://schemas.microsoft.com/office/powerpoint/2010/main" val="171251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33B793-6E63-C088-2EB3-FBAED9198AE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757FF9-EBCB-12E5-0E6F-C326C46ACE6C}"/>
              </a:ext>
            </a:extLst>
          </p:cNvPr>
          <p:cNvSpPr>
            <a:spLocks noGrp="1"/>
          </p:cNvSpPr>
          <p:nvPr>
            <p:ph type="title"/>
          </p:nvPr>
        </p:nvSpPr>
        <p:spPr/>
        <p:txBody>
          <a:bodyPr/>
          <a:lstStyle/>
          <a:p>
            <a:r>
              <a:rPr lang="en-CA" dirty="0">
                <a:solidFill>
                  <a:schemeClr val="accent1">
                    <a:lumMod val="75000"/>
                  </a:schemeClr>
                </a:solidFill>
              </a:rPr>
              <a:t>2. Climate Indicators</a:t>
            </a:r>
          </a:p>
        </p:txBody>
      </p:sp>
      <p:sp>
        <p:nvSpPr>
          <p:cNvPr id="2" name="Text Placeholder 1">
            <a:extLst>
              <a:ext uri="{FF2B5EF4-FFF2-40B4-BE49-F238E27FC236}">
                <a16:creationId xmlns:a16="http://schemas.microsoft.com/office/drawing/2014/main" id="{7E057897-2492-D2A3-5221-E9A413285F36}"/>
              </a:ext>
            </a:extLst>
          </p:cNvPr>
          <p:cNvSpPr>
            <a:spLocks noGrp="1"/>
          </p:cNvSpPr>
          <p:nvPr>
            <p:ph type="body" idx="13"/>
          </p:nvPr>
        </p:nvSpPr>
        <p:spPr/>
        <p:txBody>
          <a:bodyPr/>
          <a:lstStyle/>
          <a:p>
            <a:r>
              <a:rPr lang="en-US" dirty="0"/>
              <a:t>The DESIDE Climate Indicators provide an integrated dataset combining sea ice climate indicators based on observations (EUMETSAT Ocean and Sea Ice SAF) and climate model projections.</a:t>
            </a:r>
            <a:endParaRPr lang="en-CA" dirty="0"/>
          </a:p>
        </p:txBody>
      </p:sp>
    </p:spTree>
    <p:extLst>
      <p:ext uri="{BB962C8B-B14F-4D97-AF65-F5344CB8AC3E}">
        <p14:creationId xmlns:p14="http://schemas.microsoft.com/office/powerpoint/2010/main" val="1634321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C4C36-407A-67A7-1F37-1CF59238CBD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E482D96-4A1D-A945-EF6F-51DE425A8336}"/>
              </a:ext>
            </a:extLst>
          </p:cNvPr>
          <p:cNvSpPr>
            <a:spLocks noGrp="1"/>
          </p:cNvSpPr>
          <p:nvPr>
            <p:ph type="title"/>
          </p:nvPr>
        </p:nvSpPr>
        <p:spPr/>
        <p:txBody>
          <a:bodyPr/>
          <a:lstStyle/>
          <a:p>
            <a:r>
              <a:rPr lang="en-CA" dirty="0">
                <a:solidFill>
                  <a:schemeClr val="accent1">
                    <a:lumMod val="75000"/>
                  </a:schemeClr>
                </a:solidFill>
              </a:rPr>
              <a:t>3. Harshness Indicator</a:t>
            </a:r>
          </a:p>
        </p:txBody>
      </p:sp>
      <p:sp>
        <p:nvSpPr>
          <p:cNvPr id="2" name="Text Placeholder 1">
            <a:extLst>
              <a:ext uri="{FF2B5EF4-FFF2-40B4-BE49-F238E27FC236}">
                <a16:creationId xmlns:a16="http://schemas.microsoft.com/office/drawing/2014/main" id="{1408C142-671B-3D58-296F-A016736FDBE4}"/>
              </a:ext>
            </a:extLst>
          </p:cNvPr>
          <p:cNvSpPr>
            <a:spLocks noGrp="1"/>
          </p:cNvSpPr>
          <p:nvPr>
            <p:ph type="body" idx="13"/>
          </p:nvPr>
        </p:nvSpPr>
        <p:spPr>
          <a:xfrm>
            <a:off x="914400" y="4149080"/>
            <a:ext cx="10363200" cy="1238697"/>
          </a:xfrm>
        </p:spPr>
        <p:txBody>
          <a:bodyPr/>
          <a:lstStyle/>
          <a:p>
            <a:r>
              <a:rPr lang="en-US" dirty="0"/>
              <a:t>The DESIDE Harshness Indicator generates harshness maps based on wave height, sea ice concentration, and iceberg density data. The user can set the magnitude of each variable that is considered "harsh" and the weight that is given the variable.</a:t>
            </a:r>
            <a:endParaRPr lang="en-CA" dirty="0"/>
          </a:p>
        </p:txBody>
      </p:sp>
    </p:spTree>
    <p:extLst>
      <p:ext uri="{BB962C8B-B14F-4D97-AF65-F5344CB8AC3E}">
        <p14:creationId xmlns:p14="http://schemas.microsoft.com/office/powerpoint/2010/main" val="2326632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74101-0F3E-8B59-970B-E0E4A826B18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B8B7248-C16D-300A-B058-66A99F7543C0}"/>
              </a:ext>
            </a:extLst>
          </p:cNvPr>
          <p:cNvSpPr>
            <a:spLocks noGrp="1"/>
          </p:cNvSpPr>
          <p:nvPr>
            <p:ph type="title"/>
          </p:nvPr>
        </p:nvSpPr>
        <p:spPr/>
        <p:txBody>
          <a:bodyPr/>
          <a:lstStyle/>
          <a:p>
            <a:r>
              <a:rPr lang="en-CA" dirty="0">
                <a:solidFill>
                  <a:schemeClr val="accent1">
                    <a:lumMod val="75000"/>
                  </a:schemeClr>
                </a:solidFill>
              </a:rPr>
              <a:t>4. Structure Icing Indicator</a:t>
            </a:r>
          </a:p>
        </p:txBody>
      </p:sp>
      <p:sp>
        <p:nvSpPr>
          <p:cNvPr id="2" name="Text Placeholder 1">
            <a:extLst>
              <a:ext uri="{FF2B5EF4-FFF2-40B4-BE49-F238E27FC236}">
                <a16:creationId xmlns:a16="http://schemas.microsoft.com/office/drawing/2014/main" id="{D13A8540-BC92-5C21-75A5-41B2FC9C858F}"/>
              </a:ext>
            </a:extLst>
          </p:cNvPr>
          <p:cNvSpPr>
            <a:spLocks noGrp="1"/>
          </p:cNvSpPr>
          <p:nvPr>
            <p:ph type="body" idx="13"/>
          </p:nvPr>
        </p:nvSpPr>
        <p:spPr>
          <a:xfrm>
            <a:off x="914400" y="4025702"/>
            <a:ext cx="10363200" cy="1362075"/>
          </a:xfrm>
        </p:spPr>
        <p:txBody>
          <a:bodyPr>
            <a:normAutofit/>
          </a:bodyPr>
          <a:lstStyle/>
          <a:p>
            <a:r>
              <a:rPr lang="en-US" dirty="0"/>
              <a:t>The DESIDE Structure Icing indicator assesses the risk to structures, such as ships, from freezing sea spray. The rate of ice build-up due to super-cooled sea spray freezing on contact with surfaces is a function of the air and sea surface temperatures, the wind speed, and the saltwater freezing point.</a:t>
            </a:r>
            <a:endParaRPr lang="en-CA" dirty="0"/>
          </a:p>
        </p:txBody>
      </p:sp>
    </p:spTree>
    <p:extLst>
      <p:ext uri="{BB962C8B-B14F-4D97-AF65-F5344CB8AC3E}">
        <p14:creationId xmlns:p14="http://schemas.microsoft.com/office/powerpoint/2010/main" val="3073608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7CE2B-9B72-DB91-2235-A9748E60072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2C7A4C1-C9C4-7D3E-FE3E-FAF26352A4A8}"/>
              </a:ext>
            </a:extLst>
          </p:cNvPr>
          <p:cNvSpPr>
            <a:spLocks noGrp="1"/>
          </p:cNvSpPr>
          <p:nvPr>
            <p:ph type="title"/>
          </p:nvPr>
        </p:nvSpPr>
        <p:spPr/>
        <p:txBody>
          <a:bodyPr/>
          <a:lstStyle/>
          <a:p>
            <a:r>
              <a:rPr lang="en-CA" dirty="0">
                <a:solidFill>
                  <a:schemeClr val="accent1">
                    <a:lumMod val="75000"/>
                  </a:schemeClr>
                </a:solidFill>
              </a:rPr>
              <a:t>5. Image Warping Capability</a:t>
            </a:r>
          </a:p>
        </p:txBody>
      </p:sp>
      <p:sp>
        <p:nvSpPr>
          <p:cNvPr id="2" name="Text Placeholder 1">
            <a:extLst>
              <a:ext uri="{FF2B5EF4-FFF2-40B4-BE49-F238E27FC236}">
                <a16:creationId xmlns:a16="http://schemas.microsoft.com/office/drawing/2014/main" id="{590E4AE6-B5E3-B7A3-DD7C-2A3B87731A8E}"/>
              </a:ext>
            </a:extLst>
          </p:cNvPr>
          <p:cNvSpPr>
            <a:spLocks noGrp="1"/>
          </p:cNvSpPr>
          <p:nvPr>
            <p:ph type="body" idx="13"/>
          </p:nvPr>
        </p:nvSpPr>
        <p:spPr>
          <a:xfrm>
            <a:off x="914400" y="3212976"/>
            <a:ext cx="10363200" cy="2174801"/>
          </a:xfrm>
        </p:spPr>
        <p:txBody>
          <a:bodyPr>
            <a:normAutofit/>
          </a:bodyPr>
          <a:lstStyle/>
          <a:p>
            <a:r>
              <a:rPr lang="en-US" dirty="0"/>
              <a:t>There can be a long wait for the next satellite image to be received during which sea ice can move a considerable distance. The DESIDE Image Warp Capability transforms the current satellite image using a sea ice drift forecast to simulate what the ice in a region should look like in the future. The algorithm uses the </a:t>
            </a:r>
            <a:r>
              <a:rPr lang="en-US" dirty="0" err="1"/>
              <a:t>neXtSIM</a:t>
            </a:r>
            <a:r>
              <a:rPr lang="en-US" dirty="0"/>
              <a:t> model for ice drift forecasts up to six hours ahead.</a:t>
            </a:r>
            <a:endParaRPr lang="en-CA" dirty="0"/>
          </a:p>
        </p:txBody>
      </p:sp>
    </p:spTree>
    <p:extLst>
      <p:ext uri="{BB962C8B-B14F-4D97-AF65-F5344CB8AC3E}">
        <p14:creationId xmlns:p14="http://schemas.microsoft.com/office/powerpoint/2010/main" val="1649432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7EAFD-4D00-3DCA-94F4-91891302986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D3E7D9B-4FE8-AB50-652F-B341DA2D6071}"/>
              </a:ext>
            </a:extLst>
          </p:cNvPr>
          <p:cNvSpPr>
            <a:spLocks noGrp="1"/>
          </p:cNvSpPr>
          <p:nvPr>
            <p:ph type="title"/>
          </p:nvPr>
        </p:nvSpPr>
        <p:spPr/>
        <p:txBody>
          <a:bodyPr/>
          <a:lstStyle/>
          <a:p>
            <a:r>
              <a:rPr lang="en-CA" dirty="0">
                <a:solidFill>
                  <a:schemeClr val="accent1">
                    <a:lumMod val="75000"/>
                  </a:schemeClr>
                </a:solidFill>
              </a:rPr>
              <a:t>6. POLARIS Indicator</a:t>
            </a:r>
          </a:p>
        </p:txBody>
      </p:sp>
      <p:sp>
        <p:nvSpPr>
          <p:cNvPr id="2" name="Text Placeholder 1">
            <a:extLst>
              <a:ext uri="{FF2B5EF4-FFF2-40B4-BE49-F238E27FC236}">
                <a16:creationId xmlns:a16="http://schemas.microsoft.com/office/drawing/2014/main" id="{9442618E-95EF-8DAC-2236-7D75BAFE9402}"/>
              </a:ext>
            </a:extLst>
          </p:cNvPr>
          <p:cNvSpPr>
            <a:spLocks noGrp="1"/>
          </p:cNvSpPr>
          <p:nvPr>
            <p:ph type="body" idx="13"/>
          </p:nvPr>
        </p:nvSpPr>
        <p:spPr>
          <a:xfrm>
            <a:off x="914400" y="3789040"/>
            <a:ext cx="10363200" cy="1598737"/>
          </a:xfrm>
        </p:spPr>
        <p:txBody>
          <a:bodyPr/>
          <a:lstStyle/>
          <a:p>
            <a:r>
              <a:rPr lang="en-US" dirty="0"/>
              <a:t>The Polar Operational Limit Assessment Risk Indexing System (POLARIS) is a methodology to assess the risk posed to a ship by ice conditions in relation to the ship's assigned ice class. It uses the WMO standard sea ice charts as the basis for the calculation.</a:t>
            </a:r>
            <a:endParaRPr lang="en-CA" dirty="0"/>
          </a:p>
        </p:txBody>
      </p:sp>
    </p:spTree>
    <p:extLst>
      <p:ext uri="{BB962C8B-B14F-4D97-AF65-F5344CB8AC3E}">
        <p14:creationId xmlns:p14="http://schemas.microsoft.com/office/powerpoint/2010/main" val="1636747555"/>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FFFFFF"/>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70922a2-da75-44cf-b1fb-81fb42a6699d" xsi:nil="true"/>
    <lcf76f155ced4ddcb4097134ff3c332f xmlns="d648d66f-b5d5-4435-a640-7443a0e14147">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2E3F2D4EE343942B73520C03150E1C5" ma:contentTypeVersion="18" ma:contentTypeDescription="Create a new document." ma:contentTypeScope="" ma:versionID="5660223e45ed4bfabf5c806edae2d917">
  <xsd:schema xmlns:xsd="http://www.w3.org/2001/XMLSchema" xmlns:xs="http://www.w3.org/2001/XMLSchema" xmlns:p="http://schemas.microsoft.com/office/2006/metadata/properties" xmlns:ns2="d648d66f-b5d5-4435-a640-7443a0e14147" xmlns:ns3="e70922a2-da75-44cf-b1fb-81fb42a6699d" targetNamespace="http://schemas.microsoft.com/office/2006/metadata/properties" ma:root="true" ma:fieldsID="905e30a8a16111f15f96842db2add27c" ns2:_="" ns3:_="">
    <xsd:import namespace="d648d66f-b5d5-4435-a640-7443a0e14147"/>
    <xsd:import namespace="e70922a2-da75-44cf-b1fb-81fb42a6699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LengthInSeconds" minOccurs="0"/>
                <xsd:element ref="ns2:MediaServiceOCR" minOccurs="0"/>
                <xsd:element ref="ns3:SharedWithUsers" minOccurs="0"/>
                <xsd:element ref="ns3:SharedWithDetails"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48d66f-b5d5-4435-a640-7443a0e141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954c39e-7414-459a-9765-cab22a1906f5"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2" nillable="true" ma:displayName="Location" ma:internalName="MediaServiceLocation" ma:readOnly="true">
      <xsd:simpleType>
        <xsd:restriction base="dms:Text"/>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70922a2-da75-44cf-b1fb-81fb42a669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a9644eb-c842-496e-879d-26f34ff5f006}" ma:internalName="TaxCatchAll" ma:showField="CatchAllData" ma:web="e70922a2-da75-44cf-b1fb-81fb42a6699d">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35E13CF-0C1D-481A-AB42-E381FD00AA40}">
  <ds:schemaRefs>
    <ds:schemaRef ds:uri="http://schemas.microsoft.com/sharepoint/v3/contenttype/forms"/>
  </ds:schemaRefs>
</ds:datastoreItem>
</file>

<file path=customXml/itemProps2.xml><?xml version="1.0" encoding="utf-8"?>
<ds:datastoreItem xmlns:ds="http://schemas.openxmlformats.org/officeDocument/2006/customXml" ds:itemID="{27535E95-F325-460B-80BB-45AEA1483D6F}">
  <ds:schemaRefs>
    <ds:schemaRef ds:uri="http://schemas.microsoft.com/office/2006/metadata/properties"/>
    <ds:schemaRef ds:uri="http://schemas.microsoft.com/office/infopath/2007/PartnerControls"/>
    <ds:schemaRef ds:uri="e70922a2-da75-44cf-b1fb-81fb42a6699d"/>
    <ds:schemaRef ds:uri="d648d66f-b5d5-4435-a640-7443a0e14147"/>
  </ds:schemaRefs>
</ds:datastoreItem>
</file>

<file path=customXml/itemProps3.xml><?xml version="1.0" encoding="utf-8"?>
<ds:datastoreItem xmlns:ds="http://schemas.openxmlformats.org/officeDocument/2006/customXml" ds:itemID="{E5820BAA-DFA9-4EEB-B6FB-A7132ADBBC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48d66f-b5d5-4435-a640-7443a0e14147"/>
    <ds:schemaRef ds:uri="e70922a2-da75-44cf-b1fb-81fb42a6699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45597</TotalTime>
  <Words>557</Words>
  <Application>Microsoft Office PowerPoint</Application>
  <PresentationFormat>Widescreen</PresentationFormat>
  <Paragraphs>35</Paragraphs>
  <Slides>12</Slides>
  <Notes>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Black</vt:lpstr>
      <vt:lpstr>Calibri</vt:lpstr>
      <vt:lpstr>Courier New</vt:lpstr>
      <vt:lpstr>Noto Sans Symbols</vt:lpstr>
      <vt:lpstr>Office Theme</vt:lpstr>
      <vt:lpstr>PowerPoint Presentation</vt:lpstr>
      <vt:lpstr>DESIDE Purpose</vt:lpstr>
      <vt:lpstr>DESIDE Drivers</vt:lpstr>
      <vt:lpstr>DESIDE Objectives</vt:lpstr>
      <vt:lpstr>DESIDE Benefits</vt:lpstr>
      <vt:lpstr> Navigating to the DESIDE Dashboard</vt:lpstr>
      <vt:lpstr>1. Data Visualization and Analysis</vt:lpstr>
      <vt:lpstr>2. Climate Indicators</vt:lpstr>
      <vt:lpstr>3. Harshness Indicator</vt:lpstr>
      <vt:lpstr>4. Structure Icing Indicator</vt:lpstr>
      <vt:lpstr>5. Image Warping Capability</vt:lpstr>
      <vt:lpstr>6. POLARIS Indicator</vt:lpstr>
    </vt:vector>
  </TitlesOfParts>
  <Company>BAS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Fleming</dc:creator>
  <cp:lastModifiedBy>David Arthurs</cp:lastModifiedBy>
  <cp:revision>448</cp:revision>
  <cp:lastPrinted>2019-09-06T18:26:36Z</cp:lastPrinted>
  <dcterms:created xsi:type="dcterms:W3CDTF">2015-04-29T22:14:17Z</dcterms:created>
  <dcterms:modified xsi:type="dcterms:W3CDTF">2025-07-02T18:14:20Z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0x010100D2E3F2D4EE343942B73520C03150E1C5</vt:lpwstr>
  </property>
  <property fmtid="{D5CDD505-2E9C-101B-9397-08002B2CF9AE}" pid="3" name="Order">
    <vt:r8>7211600</vt:r8>
  </property>
  <property fmtid="{D5CDD505-2E9C-101B-9397-08002B2CF9AE}" pid="4" name="MediaServiceImageTags">
    <vt:lpwstr/>
  </property>
</Properties>
</file>